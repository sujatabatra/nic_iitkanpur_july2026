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61" r:id="rId2"/>
    <p:sldId id="262" r:id="rId3"/>
    <p:sldId id="263" r:id="rId4"/>
    <p:sldId id="264" r:id="rId5"/>
    <p:sldId id="256" r:id="rId6"/>
    <p:sldId id="257" r:id="rId7"/>
    <p:sldId id="258" r:id="rId8"/>
    <p:sldId id="259" r:id="rId9"/>
    <p:sldId id="26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84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6" r:id="rId50"/>
    <p:sldId id="304" r:id="rId51"/>
    <p:sldId id="30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67376" autoAdjust="0"/>
  </p:normalViewPr>
  <p:slideViewPr>
    <p:cSldViewPr snapToGrid="0">
      <p:cViewPr varScale="1">
        <p:scale>
          <a:sx n="43" d="100"/>
          <a:sy n="43" d="100"/>
        </p:scale>
        <p:origin x="156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360C1-88B8-446F-948A-3B6238A9B9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AD58E-B9B1-4CE0-B0DD-02EAC30B94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655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happens if Amazon goes down during a festival sale?"</a:t>
            </a:r>
          </a:p>
          <a:p>
            <a:r>
              <a:rPr lang="en-IN" dirty="0"/>
              <a:t>"What happens if a banking server crashes?"</a:t>
            </a:r>
          </a:p>
          <a:p>
            <a:r>
              <a:rPr lang="en-IN" dirty="0"/>
              <a:t>Enterprise applications cannot simply restart whenever a problem occurs.</a:t>
            </a:r>
          </a:p>
          <a:p>
            <a:r>
              <a:rPr lang="en-IN" dirty="0"/>
              <a:t>They must be designed for reliability and continuous availability.</a:t>
            </a:r>
          </a:p>
          <a:p>
            <a:r>
              <a:rPr lang="en-IN" dirty="0"/>
              <a:t>This requirement influences architectural decisions.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918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Architecture is actually a blueprint that determines how software will evolve over time.</a:t>
            </a:r>
          </a:p>
          <a:p>
            <a:r>
              <a:rPr lang="en-IN" dirty="0"/>
              <a:t>Changing architecture after several years of development is extremely difficult.</a:t>
            </a:r>
          </a:p>
          <a:p>
            <a:r>
              <a:rPr lang="en-IN" dirty="0"/>
              <a:t>Choosing the right architecture at the beginning saves significant cost later.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106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Desktop Applications : Everything runs on one computer.</a:t>
            </a:r>
          </a:p>
          <a:p>
            <a:r>
              <a:rPr lang="en-IN" dirty="0"/>
              <a:t>Client-Server : Clients communicate with a centralized server.</a:t>
            </a:r>
          </a:p>
          <a:p>
            <a:r>
              <a:rPr lang="en-IN" dirty="0"/>
              <a:t>Three-Tier :  Presentation, Business Logic, Database become separate layers.</a:t>
            </a:r>
          </a:p>
          <a:p>
            <a:r>
              <a:rPr lang="en-IN" dirty="0"/>
              <a:t>Monolithic :  Entire application packaged together.</a:t>
            </a:r>
          </a:p>
          <a:p>
            <a:r>
              <a:rPr lang="en-IN" dirty="0"/>
              <a:t>Microservices :  Application divided into multiple independently deployable services.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84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Characteristics</a:t>
            </a:r>
          </a:p>
          <a:p>
            <a:r>
              <a:rPr lang="en-IN" dirty="0"/>
              <a:t>Single Codebase </a:t>
            </a:r>
          </a:p>
          <a:p>
            <a:r>
              <a:rPr lang="en-IN" dirty="0"/>
              <a:t>Single Deployment </a:t>
            </a:r>
          </a:p>
          <a:p>
            <a:r>
              <a:rPr lang="en-IN" dirty="0"/>
              <a:t>Shared Database </a:t>
            </a:r>
          </a:p>
          <a:p>
            <a:r>
              <a:rPr lang="en-IN" dirty="0"/>
              <a:t>One Runtime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278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Controller : Receives HTTP requests.</a:t>
            </a:r>
          </a:p>
          <a:p>
            <a:r>
              <a:rPr lang="en-IN" dirty="0"/>
              <a:t>Service : Business logic.</a:t>
            </a:r>
          </a:p>
          <a:p>
            <a:r>
              <a:rPr lang="en-IN" dirty="0"/>
              <a:t>Repository : Communicates with database.</a:t>
            </a:r>
          </a:p>
          <a:p>
            <a:r>
              <a:rPr lang="en-IN" dirty="0"/>
              <a:t>Database :  Stores application data.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541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Monolithic architecture is </a:t>
            </a:r>
            <a:r>
              <a:rPr lang="en-IN" b="1" dirty="0"/>
              <a:t>not bad</a:t>
            </a:r>
            <a:r>
              <a:rPr lang="en-IN" dirty="0"/>
              <a:t>.</a:t>
            </a:r>
          </a:p>
          <a:p>
            <a:r>
              <a:rPr lang="en-IN" dirty="0"/>
              <a:t>For small projects, startups, prototypes, and internal tools, it is often the best choice.</a:t>
            </a:r>
          </a:p>
          <a:p>
            <a:r>
              <a:rPr lang="en-IN" dirty="0"/>
              <a:t>Problems become significant only as applications grow in size and complexity.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507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"If only the Product </a:t>
            </a:r>
            <a:r>
              <a:rPr lang="en-IN" dirty="0" err="1"/>
              <a:t>Catalog</a:t>
            </a:r>
            <a:r>
              <a:rPr lang="en-IN" dirty="0"/>
              <a:t> is under heavy load, why should we deploy five additional copies of the Payment module?"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691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 far, we've seen that a monolithic application packages everything into one deployable unit.</a:t>
            </a:r>
          </a:p>
          <a:p>
            <a:r>
              <a:rPr lang="en-IN" dirty="0"/>
              <a:t>Microservices solve this by dividing the application into </a:t>
            </a:r>
            <a:r>
              <a:rPr lang="en-IN" b="1" dirty="0"/>
              <a:t>small autonomous services</a:t>
            </a:r>
            <a:r>
              <a:rPr lang="en-IN" dirty="0"/>
              <a:t>.</a:t>
            </a:r>
          </a:p>
          <a:p>
            <a:r>
              <a:rPr lang="en-IN" dirty="0"/>
              <a:t>Think of an organization.</a:t>
            </a:r>
          </a:p>
          <a:p>
            <a:r>
              <a:rPr lang="en-IN" dirty="0"/>
              <a:t>Instead of having </a:t>
            </a:r>
            <a:r>
              <a:rPr lang="en-IN" b="1" dirty="0"/>
              <a:t>one employee doing everything</a:t>
            </a:r>
            <a:r>
              <a:rPr lang="en-IN" dirty="0"/>
              <a:t>, we create specialized departments.</a:t>
            </a:r>
          </a:p>
          <a:p>
            <a:r>
              <a:rPr lang="en-IN" dirty="0"/>
              <a:t>HR </a:t>
            </a:r>
          </a:p>
          <a:p>
            <a:r>
              <a:rPr lang="en-IN" dirty="0"/>
              <a:t>Finance </a:t>
            </a:r>
          </a:p>
          <a:p>
            <a:r>
              <a:rPr lang="en-IN" dirty="0"/>
              <a:t>Sales </a:t>
            </a:r>
          </a:p>
          <a:p>
            <a:r>
              <a:rPr lang="en-IN" dirty="0"/>
              <a:t>Marketing </a:t>
            </a:r>
          </a:p>
          <a:p>
            <a:r>
              <a:rPr lang="en-IN" dirty="0"/>
              <a:t>Each department performs one responsibility.</a:t>
            </a:r>
          </a:p>
          <a:p>
            <a:r>
              <a:rPr lang="en-IN" dirty="0"/>
              <a:t>Microservices follow exactly the same philosophy.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72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Imagine Amazon.</a:t>
            </a:r>
          </a:p>
          <a:p>
            <a:r>
              <a:rPr lang="en-IN" dirty="0"/>
              <a:t>Would Amazon keep Orders, Products, Payments and Notifications inside one application?</a:t>
            </a:r>
          </a:p>
          <a:p>
            <a:r>
              <a:rPr lang="en-IN" dirty="0"/>
              <a:t>No.</a:t>
            </a:r>
          </a:p>
          <a:p>
            <a:r>
              <a:rPr lang="en-IN" dirty="0"/>
              <a:t>Instead, every business capability becomes an independent service.</a:t>
            </a:r>
          </a:p>
          <a:p>
            <a:r>
              <a:rPr lang="en-IN" dirty="0"/>
              <a:t>If Product Service crashes,</a:t>
            </a:r>
          </a:p>
          <a:p>
            <a:r>
              <a:rPr lang="en-IN" dirty="0"/>
              <a:t>Payment Service continues running.</a:t>
            </a:r>
          </a:p>
          <a:p>
            <a:r>
              <a:rPr lang="en-IN" dirty="0"/>
              <a:t>Customers can still make payments.</a:t>
            </a:r>
          </a:p>
          <a:p>
            <a:r>
              <a:rPr lang="en-IN" dirty="0"/>
              <a:t>This improves availability.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345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These six characteristics define almost every microservice architecture.</a:t>
            </a:r>
          </a:p>
          <a:p>
            <a:r>
              <a:rPr lang="en-IN" dirty="0"/>
              <a:t>Throughout the remaining training, every project we build will demonstrate these characteristics.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188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Suppose the Product Service starts handling:</a:t>
            </a:r>
          </a:p>
          <a:p>
            <a:r>
              <a:rPr lang="en-IN" dirty="0"/>
              <a:t>Products </a:t>
            </a:r>
          </a:p>
          <a:p>
            <a:r>
              <a:rPr lang="en-IN" dirty="0"/>
              <a:t>Orders </a:t>
            </a:r>
          </a:p>
          <a:p>
            <a:r>
              <a:rPr lang="en-IN" dirty="0"/>
              <a:t>Customers </a:t>
            </a:r>
          </a:p>
          <a:p>
            <a:r>
              <a:rPr lang="en-IN" dirty="0"/>
              <a:t>Payments </a:t>
            </a:r>
          </a:p>
          <a:p>
            <a:r>
              <a:rPr lang="en-IN" dirty="0"/>
              <a:t>It immediately becomes another monolith.</a:t>
            </a:r>
          </a:p>
          <a:p>
            <a:r>
              <a:rPr lang="en-IN" dirty="0"/>
              <a:t>Microservices are successful because they remain focused.</a:t>
            </a:r>
          </a:p>
          <a:p>
            <a:r>
              <a:rPr lang="en-IN" dirty="0"/>
              <a:t>Ask the class:</a:t>
            </a:r>
          </a:p>
          <a:p>
            <a:r>
              <a:rPr lang="en-IN" dirty="0"/>
              <a:t>"What should Product Service know about Credit Card Payments?"</a:t>
            </a:r>
          </a:p>
          <a:p>
            <a:r>
              <a:rPr lang="en-IN" dirty="0"/>
              <a:t>Answer:</a:t>
            </a:r>
          </a:p>
          <a:p>
            <a:r>
              <a:rPr lang="en-IN" dirty="0"/>
              <a:t>Nothing.</a:t>
            </a:r>
          </a:p>
          <a:p>
            <a:r>
              <a:rPr lang="en-IN" dirty="0"/>
              <a:t>That belongs to Payment Service.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769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223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Imagine fixing a spelling mistake in Product Service.</a:t>
            </a:r>
          </a:p>
          <a:p>
            <a:r>
              <a:rPr lang="en-IN" dirty="0"/>
              <a:t>In a monolith,</a:t>
            </a:r>
          </a:p>
          <a:p>
            <a:r>
              <a:rPr lang="en-IN" dirty="0"/>
              <a:t>the entire application must be rebuilt and redeployed.</a:t>
            </a:r>
          </a:p>
          <a:p>
            <a:r>
              <a:rPr lang="en-IN" dirty="0"/>
              <a:t>In microservices,</a:t>
            </a:r>
          </a:p>
          <a:p>
            <a:r>
              <a:rPr lang="en-IN" dirty="0"/>
              <a:t>only Product Service is redeployed.</a:t>
            </a:r>
          </a:p>
          <a:p>
            <a:r>
              <a:rPr lang="en-IN" dirty="0"/>
              <a:t>Everything else continues running.</a:t>
            </a:r>
          </a:p>
          <a:p>
            <a:r>
              <a:rPr lang="en-IN" dirty="0"/>
              <a:t>This dramatically reduces deployment time.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260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Scaling is one of the biggest advantages.</a:t>
            </a:r>
          </a:p>
          <a:p>
            <a:r>
              <a:rPr lang="en-IN" dirty="0"/>
              <a:t>During Diwali or Black Friday,</a:t>
            </a:r>
          </a:p>
          <a:p>
            <a:r>
              <a:rPr lang="en-IN" dirty="0"/>
              <a:t>millions of users browse products,</a:t>
            </a:r>
          </a:p>
          <a:p>
            <a:r>
              <a:rPr lang="en-IN" dirty="0"/>
              <a:t>but only a small percentage purchase.</a:t>
            </a:r>
          </a:p>
          <a:p>
            <a:r>
              <a:rPr lang="en-IN" dirty="0"/>
              <a:t>Why should Payment Service consume additional servers?</a:t>
            </a:r>
          </a:p>
          <a:p>
            <a:r>
              <a:rPr lang="en-IN" dirty="0"/>
              <a:t>Only Product Service should scale.</a:t>
            </a:r>
          </a:p>
          <a:p>
            <a:r>
              <a:rPr lang="en-IN" dirty="0"/>
              <a:t>This reduces infrastructure costs.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6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Failures become isolated.</a:t>
            </a:r>
          </a:p>
          <a:p>
            <a:r>
              <a:rPr lang="en-IN" dirty="0"/>
              <a:t>Instead of losing the entire application,</a:t>
            </a:r>
          </a:p>
          <a:p>
            <a:r>
              <a:rPr lang="en-IN" dirty="0"/>
              <a:t>only one business capability is temporarily unavailable.</a:t>
            </a:r>
          </a:p>
          <a:p>
            <a:r>
              <a:rPr lang="en-IN" dirty="0"/>
              <a:t>This significantly improves system availability.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998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there is no universally "best" architecture</a:t>
            </a:r>
            <a:r>
              <a:rPr lang="en-IN" dirty="0"/>
              <a:t>.</a:t>
            </a:r>
          </a:p>
          <a:p>
            <a:r>
              <a:rPr lang="en-IN" dirty="0"/>
              <a:t>Choose </a:t>
            </a:r>
            <a:r>
              <a:rPr lang="en-IN" b="1" dirty="0"/>
              <a:t>Monolithic</a:t>
            </a:r>
            <a:r>
              <a:rPr lang="en-IN" dirty="0"/>
              <a:t> when:</a:t>
            </a:r>
          </a:p>
          <a:p>
            <a:r>
              <a:rPr lang="en-IN" dirty="0"/>
              <a:t>Building an MVP or prototype </a:t>
            </a:r>
          </a:p>
          <a:p>
            <a:r>
              <a:rPr lang="en-IN" dirty="0"/>
              <a:t>Working with a small team </a:t>
            </a:r>
          </a:p>
          <a:p>
            <a:r>
              <a:rPr lang="en-IN" dirty="0"/>
              <a:t>Requirements are simple </a:t>
            </a:r>
          </a:p>
          <a:p>
            <a:r>
              <a:rPr lang="en-IN" dirty="0"/>
              <a:t>Fast initial development is the goal </a:t>
            </a:r>
          </a:p>
          <a:p>
            <a:r>
              <a:rPr lang="en-IN" dirty="0"/>
              <a:t>Choose </a:t>
            </a:r>
            <a:r>
              <a:rPr lang="en-IN" b="1" dirty="0"/>
              <a:t>Microservices</a:t>
            </a:r>
            <a:r>
              <a:rPr lang="en-IN" dirty="0"/>
              <a:t> when:</a:t>
            </a:r>
          </a:p>
          <a:p>
            <a:r>
              <a:rPr lang="en-IN" dirty="0"/>
              <a:t>The application is large and evolving </a:t>
            </a:r>
          </a:p>
          <a:p>
            <a:r>
              <a:rPr lang="en-IN" dirty="0"/>
              <a:t>Independent deployment is required </a:t>
            </a:r>
          </a:p>
          <a:p>
            <a:r>
              <a:rPr lang="en-IN" dirty="0"/>
              <a:t>Different services need different scalability </a:t>
            </a:r>
          </a:p>
          <a:p>
            <a:r>
              <a:rPr lang="en-IN" dirty="0"/>
              <a:t>Multiple teams work in parallel </a:t>
            </a:r>
          </a:p>
          <a:p>
            <a:r>
              <a:rPr lang="en-IN" dirty="0"/>
              <a:t>The system is designed for cloud environments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5217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How many configuration files do you think are required to start a Java web application in traditional Spring?"</a:t>
            </a:r>
            <a:endParaRPr lang="en-IN" dirty="0"/>
          </a:p>
          <a:p>
            <a:r>
              <a:rPr lang="en-IN" dirty="0"/>
              <a:t>Many.</a:t>
            </a:r>
          </a:p>
          <a:p>
            <a:r>
              <a:rPr lang="en-IN" dirty="0"/>
              <a:t>Spring Boot dramatically reduces this effort.</a:t>
            </a:r>
          </a:p>
          <a:p>
            <a:r>
              <a:rPr lang="en-IN" dirty="0"/>
              <a:t>Instead of spending hours configuring XML files, dependency injection, servlet containers, and web descriptors, Spring Boot provides </a:t>
            </a:r>
            <a:r>
              <a:rPr lang="en-IN" b="1" dirty="0"/>
              <a:t>opinionated defaults</a:t>
            </a:r>
            <a:r>
              <a:rPr lang="en-IN" dirty="0"/>
              <a:t> so developers can focus on business logic.</a:t>
            </a:r>
          </a:p>
          <a:p>
            <a:endParaRPr lang="en-IN" dirty="0"/>
          </a:p>
          <a:p>
            <a:r>
              <a:rPr lang="en-IN" dirty="0"/>
              <a:t>"Spring Boot doesn't replace Spring—it simplifies using Spring."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3948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When we add </a:t>
            </a:r>
            <a:r>
              <a:rPr lang="en-IN" b="1" dirty="0"/>
              <a:t>spring-boot-starter-web</a:t>
            </a:r>
            <a:r>
              <a:rPr lang="en-IN" dirty="0"/>
              <a:t>, we don't manually download dozens of JAR files.</a:t>
            </a:r>
          </a:p>
          <a:p>
            <a:r>
              <a:rPr lang="en-IN" dirty="0"/>
              <a:t>Spring Boot manages compatibility between libraries.</a:t>
            </a:r>
          </a:p>
          <a:p>
            <a:r>
              <a:rPr lang="en-IN" dirty="0"/>
              <a:t>Similarly,</a:t>
            </a:r>
          </a:p>
          <a:p>
            <a:r>
              <a:rPr lang="en-IN" dirty="0"/>
              <a:t>Embedded Tomcat means:</a:t>
            </a:r>
          </a:p>
          <a:p>
            <a:r>
              <a:rPr lang="en-IN" dirty="0"/>
              <a:t>Simply click </a:t>
            </a:r>
            <a:r>
              <a:rPr lang="en-IN" b="1" dirty="0"/>
              <a:t>Run</a:t>
            </a:r>
            <a:r>
              <a:rPr lang="en-IN" dirty="0"/>
              <a:t>.</a:t>
            </a:r>
          </a:p>
          <a:p>
            <a:r>
              <a:rPr lang="en-IN" dirty="0"/>
              <a:t>No manual deployment to Tomcat is needed.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9186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REST is </a:t>
            </a:r>
            <a:r>
              <a:rPr lang="en-IN" b="1" dirty="0"/>
              <a:t>not a programming language</a:t>
            </a:r>
            <a:r>
              <a:rPr lang="en-IN" dirty="0"/>
              <a:t>.</a:t>
            </a:r>
          </a:p>
          <a:p>
            <a:r>
              <a:rPr lang="en-IN" dirty="0"/>
              <a:t>REST is a set of design principles.</a:t>
            </a:r>
          </a:p>
          <a:p>
            <a:r>
              <a:rPr lang="en-IN" dirty="0"/>
              <a:t>Everything revolves around </a:t>
            </a:r>
            <a:r>
              <a:rPr lang="en-IN" b="1" dirty="0"/>
              <a:t>resources</a:t>
            </a:r>
            <a:r>
              <a:rPr lang="en-IN" dirty="0"/>
              <a:t>.</a:t>
            </a:r>
          </a:p>
          <a:p>
            <a:r>
              <a:rPr lang="en-IN" dirty="0"/>
              <a:t>Don't think in terms of methods like:</a:t>
            </a:r>
          </a:p>
          <a:p>
            <a:r>
              <a:rPr lang="en-IN" dirty="0" err="1"/>
              <a:t>CreateProduct</a:t>
            </a:r>
            <a:r>
              <a:rPr lang="en-IN" dirty="0"/>
              <a:t>()</a:t>
            </a:r>
          </a:p>
          <a:p>
            <a:r>
              <a:rPr lang="en-IN" dirty="0" err="1"/>
              <a:t>DeleteProduct</a:t>
            </a:r>
            <a:r>
              <a:rPr lang="en-IN" dirty="0"/>
              <a:t>()</a:t>
            </a:r>
          </a:p>
          <a:p>
            <a:r>
              <a:rPr lang="en-IN" dirty="0"/>
              <a:t>Instead think about </a:t>
            </a:r>
            <a:r>
              <a:rPr lang="en-IN" b="1" dirty="0"/>
              <a:t>Products</a:t>
            </a:r>
            <a:r>
              <a:rPr lang="en-IN" dirty="0"/>
              <a:t>.</a:t>
            </a:r>
          </a:p>
          <a:p>
            <a:r>
              <a:rPr lang="en-IN" dirty="0"/>
              <a:t>Operations happen using HTTP methods.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251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Each request is independent.</a:t>
            </a:r>
          </a:p>
          <a:p>
            <a:r>
              <a:rPr lang="en-IN" dirty="0"/>
              <a:t>Example: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 /products/5</a:t>
            </a:r>
          </a:p>
          <a:p>
            <a:r>
              <a:rPr lang="en-IN" dirty="0"/>
              <a:t>contains everything needed.</a:t>
            </a:r>
          </a:p>
          <a:p>
            <a:r>
              <a:rPr lang="en-IN" dirty="0"/>
              <a:t>The server does not remember previous requests.</a:t>
            </a:r>
          </a:p>
          <a:p>
            <a:r>
              <a:rPr lang="en-IN" dirty="0"/>
              <a:t>This improves scalability.</a:t>
            </a:r>
          </a:p>
          <a:p>
            <a:r>
              <a:rPr lang="en-IN" dirty="0" err="1"/>
              <a:t>Ques</a:t>
            </a:r>
            <a:r>
              <a:rPr lang="en-IN" dirty="0"/>
              <a:t> : "Can the server forget me after sending the response?"</a:t>
            </a:r>
          </a:p>
          <a:p>
            <a:r>
              <a:rPr lang="en-IN" dirty="0"/>
              <a:t>Answer:</a:t>
            </a:r>
          </a:p>
          <a:p>
            <a:r>
              <a:rPr lang="en-IN" dirty="0"/>
              <a:t>Yes.</a:t>
            </a:r>
          </a:p>
          <a:p>
            <a:r>
              <a:rPr lang="en-IN" dirty="0"/>
              <a:t>That's exactly what Stateless means.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138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Spring Web</a:t>
            </a:r>
            <a:endParaRPr lang="en-IN" dirty="0"/>
          </a:p>
          <a:p>
            <a:r>
              <a:rPr lang="en-IN" dirty="0"/>
              <a:t>Creates REST APIs.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Spring Data JPA</a:t>
            </a:r>
            <a:endParaRPr lang="en-IN" dirty="0"/>
          </a:p>
          <a:p>
            <a:r>
              <a:rPr lang="en-IN" dirty="0"/>
              <a:t>Simplifies database access.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Validation</a:t>
            </a:r>
            <a:endParaRPr lang="en-IN" dirty="0"/>
          </a:p>
          <a:p>
            <a:r>
              <a:rPr lang="en-IN" dirty="0"/>
              <a:t>Validates incoming requests.</a:t>
            </a:r>
          </a:p>
          <a:p>
            <a:endParaRPr lang="en-IN" dirty="0"/>
          </a:p>
          <a:p>
            <a:r>
              <a:rPr lang="en-IN" b="1" dirty="0"/>
              <a:t>MySQL Driver</a:t>
            </a:r>
            <a:endParaRPr lang="en-IN" dirty="0"/>
          </a:p>
          <a:p>
            <a:r>
              <a:rPr lang="en-IN" dirty="0"/>
              <a:t>Allows Java to communicate with MySQL.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0023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JDBC URL:</a:t>
            </a:r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jdbc:mysql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://localhost:3306/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productdb?createDatabaseIfNotExist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true&amp;useSSL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false&amp;allowPublicKeyRetrieval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true&amp;serverTimezone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=UTC</a:t>
            </a:r>
          </a:p>
          <a:p>
            <a:r>
              <a:rPr lang="en-IN" dirty="0"/>
              <a:t>can be broken down into two parts:</a:t>
            </a:r>
          </a:p>
          <a:p>
            <a:r>
              <a:rPr lang="en-IN" b="1" dirty="0"/>
              <a:t>Connection details</a:t>
            </a:r>
            <a:r>
              <a:rPr lang="en-IN" dirty="0"/>
              <a:t> </a:t>
            </a:r>
          </a:p>
          <a:p>
            <a:r>
              <a:rPr lang="en-IN" b="1" dirty="0"/>
              <a:t>Connection parameters (after </a:t>
            </a:r>
            <a:r>
              <a:rPr lang="en-I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r>
              <a:rPr lang="en-IN" b="1" dirty="0"/>
              <a:t>)</a:t>
            </a:r>
            <a:r>
              <a:rPr lang="en-IN" dirty="0"/>
              <a:t>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Complete Breakdown</a:t>
            </a:r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jdbc:mysql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://localhost:3306/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productdb</a:t>
            </a:r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jdbc:mysql</a:t>
            </a:r>
            <a:r>
              <a:rPr lang="en-I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://</a:t>
            </a:r>
            <a:endParaRPr lang="en-IN" b="1" dirty="0"/>
          </a:p>
          <a:p>
            <a:r>
              <a:rPr lang="en-IN" b="1" dirty="0" err="1"/>
              <a:t>jdbc</a:t>
            </a:r>
            <a:r>
              <a:rPr lang="en-IN" dirty="0"/>
              <a:t> → Java Database Connectivity protocol. </a:t>
            </a:r>
          </a:p>
          <a:p>
            <a:r>
              <a:rPr lang="en-IN" b="1" dirty="0" err="1"/>
              <a:t>mysql</a:t>
            </a:r>
            <a:r>
              <a:rPr lang="en-IN" dirty="0"/>
              <a:t> → Specifies that the MySQL JDBC driver should be used. </a:t>
            </a:r>
          </a:p>
          <a:p>
            <a:r>
              <a:rPr lang="en-I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localhost</a:t>
            </a:r>
            <a:endParaRPr lang="en-IN" b="1" dirty="0"/>
          </a:p>
          <a:p>
            <a:r>
              <a:rPr lang="en-IN" dirty="0"/>
              <a:t>The hostname of the MySQL server. 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localhost</a:t>
            </a:r>
            <a:r>
              <a:rPr lang="en-IN" dirty="0"/>
              <a:t> means the database is running on the same machine as your Spring Boot application. </a:t>
            </a:r>
          </a:p>
          <a:p>
            <a:r>
              <a:rPr lang="en-IN" dirty="0"/>
              <a:t>Example: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localhost</a:t>
            </a:r>
          </a:p>
          <a:p>
            <a:r>
              <a:rPr lang="en-IN" dirty="0"/>
              <a:t>If the database is on another machine: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192.168.1.10</a:t>
            </a:r>
          </a:p>
          <a:p>
            <a:r>
              <a:rPr lang="en-IN" dirty="0"/>
              <a:t>or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db.company.com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3306</a:t>
            </a:r>
            <a:endParaRPr lang="en-IN" b="1" dirty="0"/>
          </a:p>
          <a:p>
            <a:r>
              <a:rPr lang="en-IN" dirty="0"/>
              <a:t>MySQL server port. </a:t>
            </a:r>
          </a:p>
          <a:p>
            <a:r>
              <a:rPr lang="en-IN" b="1" dirty="0"/>
              <a:t>3306</a:t>
            </a:r>
            <a:r>
              <a:rPr lang="en-IN" dirty="0"/>
              <a:t> is the default MySQL port. </a:t>
            </a:r>
          </a:p>
          <a:p>
            <a:r>
              <a:rPr lang="en-IN" dirty="0"/>
              <a:t>Example: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localhost:3306</a:t>
            </a:r>
          </a:p>
          <a:p>
            <a:r>
              <a:rPr lang="en-IN" dirty="0"/>
              <a:t>means</a:t>
            </a:r>
          </a:p>
          <a:p>
            <a:r>
              <a:rPr lang="en-IN" dirty="0"/>
              <a:t>Connect to MySQL running on port 3306.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productdb</a:t>
            </a:r>
            <a:endParaRPr lang="en-IN" b="1" dirty="0"/>
          </a:p>
          <a:p>
            <a:r>
              <a:rPr lang="en-IN" dirty="0"/>
              <a:t>This is the database/schema name.</a:t>
            </a:r>
          </a:p>
          <a:p>
            <a:r>
              <a:rPr lang="en-IN" dirty="0"/>
              <a:t>Example: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DATABASE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productdb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IN" dirty="0"/>
              <a:t>Spring Boot will connect to this database.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Parameters</a:t>
            </a:r>
          </a:p>
          <a:p>
            <a:r>
              <a:rPr lang="en-IN" dirty="0"/>
              <a:t>Everything after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</a:t>
            </a:r>
            <a:r>
              <a:rPr lang="en-IN" dirty="0"/>
              <a:t> consists of </a:t>
            </a:r>
            <a:r>
              <a:rPr lang="en-IN" b="1" dirty="0"/>
              <a:t>key=value</a:t>
            </a:r>
            <a:r>
              <a:rPr lang="en-IN" dirty="0"/>
              <a:t> pairs separated by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1. </a:t>
            </a:r>
            <a:r>
              <a:rPr lang="en-IN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createDatabaseIfNotExist</a:t>
            </a:r>
            <a:r>
              <a:rPr lang="en-I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=true</a:t>
            </a:r>
            <a:endParaRPr lang="en-IN" b="1" dirty="0"/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createDatabaseIfNotExist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=true</a:t>
            </a:r>
          </a:p>
          <a:p>
            <a:r>
              <a:rPr lang="en-IN" b="1" dirty="0"/>
              <a:t>Meaning</a:t>
            </a:r>
          </a:p>
          <a:p>
            <a:r>
              <a:rPr lang="en-IN" dirty="0"/>
              <a:t>If </a:t>
            </a:r>
            <a:r>
              <a:rPr lang="en-IN" b="1" dirty="0" err="1"/>
              <a:t>productdb</a:t>
            </a:r>
            <a:r>
              <a:rPr lang="en-IN" dirty="0"/>
              <a:t> does not exist, MySQL automatically creates it.</a:t>
            </a:r>
          </a:p>
          <a:p>
            <a:r>
              <a:rPr lang="en-IN" dirty="0"/>
              <a:t>Without this: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Unknown database '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productdb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</a:p>
          <a:p>
            <a:r>
              <a:rPr lang="en-IN" dirty="0"/>
              <a:t>With this: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productdb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created automatically.</a:t>
            </a:r>
          </a:p>
          <a:p>
            <a:r>
              <a:rPr lang="en-IN" dirty="0"/>
              <a:t>Useful during development.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2. </a:t>
            </a:r>
            <a:r>
              <a:rPr lang="en-IN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useSSL</a:t>
            </a:r>
            <a:r>
              <a:rPr lang="en-I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=false</a:t>
            </a:r>
            <a:endParaRPr lang="en-IN" b="1" dirty="0"/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useSSL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=false</a:t>
            </a:r>
          </a:p>
          <a:p>
            <a:r>
              <a:rPr lang="en-IN" b="1" dirty="0"/>
              <a:t>Meaning</a:t>
            </a:r>
          </a:p>
          <a:p>
            <a:r>
              <a:rPr lang="en-IN" dirty="0"/>
              <a:t>Disable SSL/TLS encryption between your application and MySQL.</a:t>
            </a:r>
          </a:p>
          <a:p>
            <a:r>
              <a:rPr lang="en-IN" dirty="0"/>
              <a:t>When your application connects: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 Boot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|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|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MySQL</a:t>
            </a:r>
          </a:p>
          <a:p>
            <a:r>
              <a:rPr lang="en-IN" dirty="0"/>
              <a:t>communication is </a:t>
            </a:r>
            <a:r>
              <a:rPr lang="en-IN" b="1" dirty="0"/>
              <a:t>not encrypted</a:t>
            </a:r>
            <a:r>
              <a:rPr lang="en-IN" dirty="0"/>
              <a:t>.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For local development there is no need for SSL.</a:t>
            </a:r>
          </a:p>
          <a:p>
            <a:r>
              <a:rPr lang="en-IN" dirty="0"/>
              <a:t>In production:</a:t>
            </a:r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useSSL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=true</a:t>
            </a:r>
          </a:p>
          <a:p>
            <a:r>
              <a:rPr lang="en-IN" dirty="0"/>
              <a:t>is recommended.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3. </a:t>
            </a:r>
            <a:r>
              <a:rPr lang="en-IN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allowPublicKeyRetrieval</a:t>
            </a:r>
            <a:r>
              <a:rPr lang="en-I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=true</a:t>
            </a:r>
            <a:endParaRPr lang="en-IN" b="1" dirty="0"/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allowPublicKeyRetrieval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=true</a:t>
            </a:r>
          </a:p>
          <a:p>
            <a:r>
              <a:rPr lang="en-IN" dirty="0"/>
              <a:t>This is one of the most commonly asked interview questions.</a:t>
            </a:r>
          </a:p>
          <a:p>
            <a:r>
              <a:rPr lang="en-IN" b="1" dirty="0"/>
              <a:t>Why is it needed?</a:t>
            </a:r>
          </a:p>
          <a:p>
            <a:r>
              <a:rPr lang="en-IN" dirty="0"/>
              <a:t>MySQL 8 uses the authentication plugin: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caching_sha2_password</a:t>
            </a:r>
          </a:p>
          <a:p>
            <a:r>
              <a:rPr lang="en-IN" dirty="0"/>
              <a:t>When SSL is disabled, the client may need the server's RSA public key to securely send the password.</a:t>
            </a:r>
          </a:p>
          <a:p>
            <a:r>
              <a:rPr lang="en-IN" dirty="0"/>
              <a:t>Without this option, you might get: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Key Retrieval is not allowed</a:t>
            </a:r>
          </a:p>
          <a:p>
            <a:r>
              <a:rPr lang="en-IN" dirty="0"/>
              <a:t>Setting:</a:t>
            </a:r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allowPublicKeyRetrieval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=true</a:t>
            </a:r>
          </a:p>
          <a:p>
            <a:r>
              <a:rPr lang="en-IN" dirty="0"/>
              <a:t>allows the JDBC driver to retrieve the server's public key automatically.</a:t>
            </a:r>
          </a:p>
          <a:p>
            <a:r>
              <a:rPr lang="en-IN" dirty="0"/>
              <a:t>Typically used together with:</a:t>
            </a:r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useSSL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=false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4. </a:t>
            </a:r>
            <a:r>
              <a:rPr lang="en-IN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serverTimezone</a:t>
            </a:r>
            <a:r>
              <a:rPr lang="en-IN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=UTC</a:t>
            </a:r>
            <a:endParaRPr lang="en-IN" b="1" dirty="0"/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serverTimezone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=UTC</a:t>
            </a:r>
          </a:p>
          <a:p>
            <a:r>
              <a:rPr lang="en-IN" b="1" dirty="0"/>
              <a:t>Meaning</a:t>
            </a:r>
          </a:p>
          <a:p>
            <a:r>
              <a:rPr lang="en-IN" dirty="0"/>
              <a:t>Tells the JDBC driver which time zone the MySQL server uses.</a:t>
            </a:r>
          </a:p>
          <a:p>
            <a:r>
              <a:rPr lang="en-IN" dirty="0"/>
              <a:t>Without it, you may see errors such as: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server time zone value is unrecognized</a:t>
            </a:r>
          </a:p>
          <a:p>
            <a:r>
              <a:rPr lang="en-IN" dirty="0"/>
              <a:t>or timestamps may be interpreted incorrectly.</a:t>
            </a:r>
          </a:p>
          <a:p>
            <a:r>
              <a:rPr lang="en-IN" dirty="0"/>
              <a:t>Examples: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UTC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Asia/Kolkata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Europe/London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America/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New_York</a:t>
            </a:r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dirty="0"/>
              <a:t>Using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UTC</a:t>
            </a:r>
            <a:r>
              <a:rPr lang="en-IN" dirty="0"/>
              <a:t> avoids many </a:t>
            </a:r>
            <a:r>
              <a:rPr lang="en-IN" dirty="0" err="1"/>
              <a:t>timezone</a:t>
            </a:r>
            <a:r>
              <a:rPr lang="en-IN" dirty="0"/>
              <a:t>-related issues and is a common production practice.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0746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@Entity</a:t>
            </a:r>
            <a:r>
              <a:rPr lang="en-IN" dirty="0"/>
              <a:t> → Marks a persistent class 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@Table</a:t>
            </a:r>
            <a:r>
              <a:rPr lang="en-IN" dirty="0"/>
              <a:t> → Specifies the table name 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@Id</a:t>
            </a:r>
            <a:r>
              <a:rPr lang="en-IN" dirty="0"/>
              <a:t> → Primary key 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@GeneratedValue</a:t>
            </a:r>
            <a:r>
              <a:rPr lang="en-IN" dirty="0"/>
              <a:t> → Auto-generates IDs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9178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AD58E-B9B1-4CE0-B0DD-02EAC30B945D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709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CFBC-6A90-24BD-34F4-482B4580B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3CAEB7-3D34-A9B3-0707-C616552AD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6FBE8-F41F-9393-A0FF-BD9DE91A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D8892-2D5E-F966-BF13-19029B2C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93270-FCCD-E020-6081-897E145B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29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1D01-6118-CDEC-5816-2C590A493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E6EDB-B3F1-DAAB-796C-167EF03E1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05868-1D20-D62C-56B7-88AB8128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C28E5-F10D-03BA-0FE3-B5EEE4251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48C4B-6CAE-DFD7-9CFE-B5D46A329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7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D7D80-4E4A-AE21-CF98-F2AC8DE9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D5EFD-8045-CBA2-D7A8-3656742D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8F28-992F-94BD-C0AA-058F35C6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1654E-77FF-27D4-860D-FEB67382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23E6F-AAAD-1DCB-82D9-6A0A5302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7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8C36-80AC-4E8F-E5EF-85F9714D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D5D1-19C2-39AB-53C0-07DEED0F8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1537D-66AD-2DAF-27DE-2FDB16093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98D58-0E56-1E6C-6BF4-B6037BA1A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18125-258E-B8CB-6AFC-23FE3672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42926-7A96-F903-13B1-FC110E28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EAF2C-853B-68EF-D2D9-864288892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C3B86-409F-A195-68CB-FE6136A7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E3B91-9A28-FFFD-DDC1-8AFCFBE4B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6D34A-8482-F33E-9B36-3908D095C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2C601E-7B26-6769-2FCE-8709D5B05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65F3E-60C6-EE93-7961-8AD2E248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0F8AF-5227-90CB-5D3F-9D849E8FF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F8AC3-76E9-411F-3550-FC7A8F47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852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9821-5525-1091-8FB3-2BF1D04AE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A1E95-0009-5882-EBDD-687FBCED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8047B-2A5B-FF18-7FFF-24B43FA7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D2738-1309-F984-5680-7FC58C47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98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BD1CFA-D619-EBEA-93A2-145DD835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439C4-083F-382D-6078-2EA9DD9A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228F1-4B9C-A5EA-1864-09E11E41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92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AC0B-364B-92F0-D723-A0A888BF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A2EE7-C4B0-A96A-8B88-43DA40380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9BCE7-85CF-3A3D-F5DC-7596ED607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36FC4-CC79-30A4-79B2-055206C0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9F935-DB82-3462-A111-D9A7D917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44B96-6A7D-F24A-CF08-A891AFB8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57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E8A3E-DFD9-4D6B-0648-5B15D044B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877324-1C88-D671-612F-A98135E08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E674B-34F5-5686-9774-7D298A5C9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A9F6F-D0CD-9544-EE15-1E206C996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45016-F2FC-19A0-5871-82265538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8D88E-F288-7C25-149A-6E9A9A24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432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97B4-BA5D-F21E-6107-6A4D839A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86092-717E-5949-D6A3-5947017B2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4B940-5CD2-4BE0-7D4D-63A93772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AFB9B-4255-1DF4-D95C-6B83C224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93FB4-B77E-E800-5681-65403364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17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EC92D-3E7D-ADCE-AC4B-7D4E7FD76A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E75E1-8F89-D31A-3F65-DB649DE98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35661-CB88-737C-F9BD-E6EF11D9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F53E3-9B96-E3C2-C179-F8465C64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23F1A-326C-A71E-D5EE-A27D3E6E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706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B2671-158F-671E-0AB7-B973D712A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6CFE6-A372-553B-D079-2F50C50FE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02443-2B38-B841-B224-3BAA9958B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A14D6-9657-4B57-904E-AF9073EE4BD2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2637F-72C0-C715-7881-A7E059E8A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6CBBB-904C-571C-B07B-BD6CD7F4E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A2754-95DE-4E7D-8742-359F48D6A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43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732B-F943-AB16-75F4-237DF7C04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Microservices with Spring Boot 4.0.1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1F372-E2AF-D05C-2A0E-AEF8C79C2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142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563F-BDED-4E10-A5FB-F06D2830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Enterprise Application?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74732-1FF1-9E9C-AC87-2A016FFF3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Examples</a:t>
            </a:r>
          </a:p>
          <a:p>
            <a:pPr lvl="1"/>
            <a:r>
              <a:rPr lang="en-IN" dirty="0"/>
              <a:t>Amazon </a:t>
            </a:r>
          </a:p>
          <a:p>
            <a:pPr lvl="1"/>
            <a:r>
              <a:rPr lang="en-IN" dirty="0"/>
              <a:t>Flipkart </a:t>
            </a:r>
          </a:p>
          <a:p>
            <a:pPr lvl="1"/>
            <a:r>
              <a:rPr lang="en-IN" dirty="0"/>
              <a:t>Banking System </a:t>
            </a:r>
          </a:p>
          <a:p>
            <a:pPr lvl="1"/>
            <a:r>
              <a:rPr lang="en-IN" dirty="0"/>
              <a:t>Hospital Management </a:t>
            </a:r>
          </a:p>
          <a:p>
            <a:pPr lvl="1"/>
            <a:r>
              <a:rPr lang="en-IN" dirty="0"/>
              <a:t>Airline Reservation </a:t>
            </a:r>
          </a:p>
          <a:p>
            <a:pPr lvl="1"/>
            <a:r>
              <a:rPr lang="en-IN" dirty="0"/>
              <a:t>University ERP </a:t>
            </a:r>
          </a:p>
          <a:p>
            <a:pPr marL="0" indent="0">
              <a:buNone/>
            </a:pPr>
            <a:r>
              <a:rPr lang="en-IN" dirty="0"/>
              <a:t>Characteristics</a:t>
            </a:r>
          </a:p>
          <a:p>
            <a:pPr lvl="1"/>
            <a:r>
              <a:rPr lang="en-IN" dirty="0"/>
              <a:t>Thousands or millions of users </a:t>
            </a:r>
          </a:p>
          <a:p>
            <a:pPr lvl="1"/>
            <a:r>
              <a:rPr lang="en-IN" dirty="0"/>
              <a:t>Large databases </a:t>
            </a:r>
          </a:p>
          <a:p>
            <a:pPr lvl="1"/>
            <a:r>
              <a:rPr lang="en-IN" dirty="0"/>
              <a:t>High availability </a:t>
            </a:r>
          </a:p>
          <a:p>
            <a:pPr lvl="1"/>
            <a:r>
              <a:rPr lang="en-IN" dirty="0"/>
              <a:t>Secure </a:t>
            </a:r>
          </a:p>
          <a:p>
            <a:pPr lvl="1"/>
            <a:r>
              <a:rPr lang="en-IN" dirty="0"/>
              <a:t>Scalable </a:t>
            </a:r>
          </a:p>
          <a:p>
            <a:pPr lvl="1"/>
            <a:r>
              <a:rPr lang="en-IN" dirty="0"/>
              <a:t>Reliable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22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73EB-B355-4E90-164F-4371AF8B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Architecture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F66EF-5134-D35C-2438-03016BF40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A good architecture helps achieve:</a:t>
            </a:r>
          </a:p>
          <a:p>
            <a:pPr lvl="1"/>
            <a:r>
              <a:rPr lang="en-IN" dirty="0"/>
              <a:t>Scalability </a:t>
            </a:r>
          </a:p>
          <a:p>
            <a:pPr lvl="1"/>
            <a:r>
              <a:rPr lang="en-IN" dirty="0"/>
              <a:t>Performance </a:t>
            </a:r>
          </a:p>
          <a:p>
            <a:pPr lvl="1"/>
            <a:r>
              <a:rPr lang="en-IN" dirty="0"/>
              <a:t>Maintainability </a:t>
            </a:r>
          </a:p>
          <a:p>
            <a:pPr lvl="1"/>
            <a:r>
              <a:rPr lang="en-IN" dirty="0"/>
              <a:t>Reliability </a:t>
            </a:r>
          </a:p>
          <a:p>
            <a:pPr lvl="1"/>
            <a:r>
              <a:rPr lang="en-IN" dirty="0"/>
              <a:t>Security </a:t>
            </a:r>
          </a:p>
          <a:p>
            <a:pPr lvl="1"/>
            <a:r>
              <a:rPr lang="en-IN" dirty="0"/>
              <a:t>Availability 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dirty="0"/>
              <a:t>Business Requirements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 Software Architecture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 High Quality Application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243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39D4-2A22-4C39-E3F8-019C38FE0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Software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E971D-DCA7-638D-A371-2A31647B4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Desktop Application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Client-Server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Three-Tier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Monolithic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Microservices</a:t>
            </a:r>
          </a:p>
        </p:txBody>
      </p:sp>
    </p:spTree>
    <p:extLst>
      <p:ext uri="{BB962C8B-B14F-4D97-AF65-F5344CB8AC3E}">
        <p14:creationId xmlns:p14="http://schemas.microsoft.com/office/powerpoint/2010/main" val="2132737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0C07-D711-0529-2B73-76CC597BB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E-Commerce Order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60806-5076-4A79-09F1-F1190D5F93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63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8B8B6-17A5-6BF3-E891-93189BB6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4A35C-D3CE-D456-0835-50C7FC41C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Design and develop a distributed </a:t>
            </a:r>
            <a:r>
              <a:rPr lang="en-IN" b="1" dirty="0"/>
              <a:t>E-Commerce Order Management System</a:t>
            </a:r>
            <a:r>
              <a:rPr lang="en-IN" dirty="0"/>
              <a:t> that enables customers to purchase products while maintaining inventory and generating order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4198644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ACD20-AE50-D56B-163E-53359931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Monolithic Architecture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69ECA-AD6E-2E06-762A-93C949778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034" y="320040"/>
            <a:ext cx="3409423" cy="598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B7A71-DC6D-05DC-426F-AA9311C2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0040"/>
            <a:ext cx="6692827" cy="38926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Structure in Monolithic Application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B8CA1F-B691-6751-460D-19BE9498F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9088" y="320040"/>
            <a:ext cx="2340833" cy="630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29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AE70-E269-B5B9-8FB8-4EAF3080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Monolithic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64798-EAD9-BB6B-A150-D42E38D6D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Easy to develop</a:t>
            </a:r>
          </a:p>
          <a:p>
            <a:r>
              <a:rPr lang="en-IN" dirty="0"/>
              <a:t>Easy to deploy</a:t>
            </a:r>
          </a:p>
          <a:p>
            <a:r>
              <a:rPr lang="en-IN" dirty="0"/>
              <a:t>Faster internal communication</a:t>
            </a:r>
          </a:p>
          <a:p>
            <a:r>
              <a:rPr lang="en-IN" dirty="0"/>
              <a:t>Easier debugging</a:t>
            </a:r>
          </a:p>
          <a:p>
            <a:r>
              <a:rPr lang="en-IN" dirty="0"/>
              <a:t>Lower infrastructure cost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28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6722-8199-C8F1-7A58-67CC47D4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Monolithic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78D8A-B974-C14B-1CF5-2F4C56993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Tight coupling</a:t>
            </a:r>
          </a:p>
          <a:p>
            <a:r>
              <a:rPr lang="en-IN" dirty="0"/>
              <a:t>Large codebase</a:t>
            </a:r>
          </a:p>
          <a:p>
            <a:r>
              <a:rPr lang="en-IN" dirty="0"/>
              <a:t>Difficult scaling</a:t>
            </a:r>
          </a:p>
          <a:p>
            <a:r>
              <a:rPr lang="en-IN" dirty="0"/>
              <a:t>Longer deployments</a:t>
            </a:r>
          </a:p>
          <a:p>
            <a:r>
              <a:rPr lang="en-IN" dirty="0"/>
              <a:t>Single point of failure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539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5E70-5F7F-AF7D-E4EB-B7DF353E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Organizations Moved to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6505B-D6C7-E295-EA95-61D4A500E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Imagine a festive sale.</a:t>
            </a:r>
          </a:p>
          <a:p>
            <a:r>
              <a:rPr lang="en-IN" dirty="0"/>
              <a:t>Product Module</a:t>
            </a:r>
          </a:p>
          <a:p>
            <a:pPr marL="457200" lvl="1" indent="0">
              <a:buNone/>
            </a:pPr>
            <a:r>
              <a:rPr lang="en-IN" dirty="0"/>
              <a:t>100,000 Requests</a:t>
            </a:r>
          </a:p>
          <a:p>
            <a:endParaRPr lang="en-IN" dirty="0"/>
          </a:p>
          <a:p>
            <a:r>
              <a:rPr lang="en-IN" dirty="0"/>
              <a:t>Payment Module</a:t>
            </a:r>
          </a:p>
          <a:p>
            <a:pPr marL="457200" lvl="1" indent="0">
              <a:buNone/>
            </a:pPr>
            <a:r>
              <a:rPr lang="en-IN" dirty="0"/>
              <a:t>8,000 Requests</a:t>
            </a:r>
          </a:p>
          <a:p>
            <a:endParaRPr lang="en-IN" dirty="0"/>
          </a:p>
          <a:p>
            <a:r>
              <a:rPr lang="en-IN" dirty="0"/>
              <a:t>Notification</a:t>
            </a:r>
          </a:p>
          <a:p>
            <a:pPr marL="457200" lvl="1" indent="0">
              <a:buNone/>
            </a:pPr>
            <a:r>
              <a:rPr lang="en-IN" dirty="0"/>
              <a:t>2,000 Requests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Question: Should we scale the entire application just because Product traffic increased?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8249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28EE0C-7059-E4DC-869D-E8E1843BAE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Introducing Microservices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DCA18CC-15CA-32CB-2457-5ECAB1AEEB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941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8FD1-3DE7-02DF-EF67-B980FEC7D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Microservices?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77DAC-6253-1344-1C8B-AF1EA9A6B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A Microservice is a small, independent application that implements a single business capability.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Unlike a monolithic application, each microservice is:</a:t>
            </a:r>
          </a:p>
          <a:p>
            <a:pPr lvl="1"/>
            <a:r>
              <a:rPr lang="en-IN" dirty="0"/>
              <a:t>Independently developed </a:t>
            </a:r>
          </a:p>
          <a:p>
            <a:pPr lvl="1"/>
            <a:r>
              <a:rPr lang="en-IN" dirty="0"/>
              <a:t>Independently tested </a:t>
            </a:r>
          </a:p>
          <a:p>
            <a:pPr lvl="1"/>
            <a:r>
              <a:rPr lang="en-IN" dirty="0"/>
              <a:t>Independently deployed </a:t>
            </a:r>
          </a:p>
          <a:p>
            <a:pPr lvl="1"/>
            <a:r>
              <a:rPr lang="en-IN" dirty="0"/>
              <a:t>Independently scaled 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b="1" dirty="0"/>
              <a:t>Each microservice owns its:</a:t>
            </a:r>
          </a:p>
          <a:p>
            <a:pPr lvl="1"/>
            <a:r>
              <a:rPr lang="en-IN" dirty="0"/>
              <a:t>Source Code </a:t>
            </a:r>
          </a:p>
          <a:p>
            <a:pPr lvl="1"/>
            <a:r>
              <a:rPr lang="en-IN" dirty="0"/>
              <a:t>Business Logic </a:t>
            </a:r>
          </a:p>
          <a:p>
            <a:pPr lvl="1"/>
            <a:r>
              <a:rPr lang="en-IN" dirty="0"/>
              <a:t>Database </a:t>
            </a:r>
          </a:p>
          <a:p>
            <a:pPr lvl="1"/>
            <a:r>
              <a:rPr lang="en-IN" dirty="0"/>
              <a:t>Configuration </a:t>
            </a:r>
          </a:p>
          <a:p>
            <a:pPr lvl="1"/>
            <a:r>
              <a:rPr lang="en-IN" dirty="0"/>
              <a:t>Deployment Lifecycle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4086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B77CB-7AB8-7947-E126-6B75C044E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E-Commerce Microservices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D3145-66C7-6080-BBD0-977557AB7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737"/>
            <a:ext cx="10515600" cy="488423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              Client</a:t>
            </a:r>
          </a:p>
          <a:p>
            <a:pPr marL="0" indent="0">
              <a:buNone/>
            </a:pPr>
            <a:r>
              <a:rPr lang="en-IN" dirty="0"/>
              <a:t>                   │</a:t>
            </a:r>
          </a:p>
          <a:p>
            <a:pPr marL="0" indent="0">
              <a:buNone/>
            </a:pPr>
            <a:r>
              <a:rPr lang="en-IN" dirty="0"/>
              <a:t>             API Gateway</a:t>
            </a:r>
          </a:p>
          <a:p>
            <a:pPr marL="0" indent="0">
              <a:buNone/>
            </a:pPr>
            <a:r>
              <a:rPr lang="en-IN" dirty="0"/>
              <a:t>                   │</a:t>
            </a:r>
          </a:p>
          <a:p>
            <a:pPr marL="0" indent="0">
              <a:buNone/>
            </a:pPr>
            <a:r>
              <a:rPr lang="en-IN" dirty="0"/>
              <a:t> ┌────────┬────────┬─────────┬─────────┐</a:t>
            </a:r>
          </a:p>
          <a:p>
            <a:pPr marL="0" indent="0">
              <a:buNone/>
            </a:pPr>
            <a:r>
              <a:rPr lang="en-IN" dirty="0"/>
              <a:t> │                     │                      │                          │</a:t>
            </a:r>
          </a:p>
          <a:p>
            <a:pPr marL="0" indent="0">
              <a:buNone/>
            </a:pPr>
            <a:r>
              <a:rPr lang="en-IN" dirty="0"/>
              <a:t>Product    Order       Payment        Inventory</a:t>
            </a:r>
          </a:p>
          <a:p>
            <a:pPr marL="0" indent="0">
              <a:buNone/>
            </a:pPr>
            <a:r>
              <a:rPr lang="en-IN" dirty="0"/>
              <a:t>Service    </a:t>
            </a:r>
            <a:r>
              <a:rPr lang="en-IN" dirty="0" err="1"/>
              <a:t>Service</a:t>
            </a:r>
            <a:r>
              <a:rPr lang="en-IN" dirty="0"/>
              <a:t>        </a:t>
            </a:r>
            <a:r>
              <a:rPr lang="en-IN" dirty="0" err="1"/>
              <a:t>Service</a:t>
            </a:r>
            <a:r>
              <a:rPr lang="en-IN" dirty="0"/>
              <a:t>         </a:t>
            </a:r>
            <a:r>
              <a:rPr lang="en-IN" dirty="0" err="1"/>
              <a:t>Service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│                        │                   │                        │</a:t>
            </a:r>
          </a:p>
          <a:p>
            <a:pPr marL="0" indent="0">
              <a:buNone/>
            </a:pPr>
            <a:r>
              <a:rPr lang="en-IN" dirty="0" err="1"/>
              <a:t>ProductDB</a:t>
            </a:r>
            <a:r>
              <a:rPr lang="en-IN" dirty="0"/>
              <a:t> </a:t>
            </a:r>
            <a:r>
              <a:rPr lang="en-IN" dirty="0" err="1"/>
              <a:t>OrderDB</a:t>
            </a:r>
            <a:r>
              <a:rPr lang="en-IN" dirty="0"/>
              <a:t> </a:t>
            </a:r>
            <a:r>
              <a:rPr lang="en-IN" dirty="0" err="1"/>
              <a:t>PaymentDB</a:t>
            </a:r>
            <a:r>
              <a:rPr lang="en-IN" dirty="0"/>
              <a:t> </a:t>
            </a:r>
            <a:r>
              <a:rPr lang="en-IN" dirty="0" err="1"/>
              <a:t>InventoryDB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Additional Services</a:t>
            </a:r>
          </a:p>
          <a:p>
            <a:r>
              <a:rPr lang="en-IN" dirty="0"/>
              <a:t>Customer Service </a:t>
            </a:r>
          </a:p>
          <a:p>
            <a:r>
              <a:rPr lang="en-IN" dirty="0"/>
              <a:t>Notification Service </a:t>
            </a:r>
          </a:p>
          <a:p>
            <a:r>
              <a:rPr lang="en-IN" dirty="0"/>
              <a:t>Shipping Service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6089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EEBAF-2B3A-C304-202E-AE41FFD17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Characteristics of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F3ED1-2684-D013-447B-30AE1B564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Single Responsibility</a:t>
            </a:r>
          </a:p>
          <a:p>
            <a:r>
              <a:rPr lang="en-IN" dirty="0"/>
              <a:t>Independent Deployment</a:t>
            </a:r>
          </a:p>
          <a:p>
            <a:r>
              <a:rPr lang="en-IN" dirty="0"/>
              <a:t>Independent Database</a:t>
            </a:r>
          </a:p>
          <a:p>
            <a:r>
              <a:rPr lang="en-IN" dirty="0"/>
              <a:t>API-Based Communication</a:t>
            </a:r>
          </a:p>
          <a:p>
            <a:r>
              <a:rPr lang="en-IN" dirty="0"/>
              <a:t>Independent Scaling</a:t>
            </a:r>
          </a:p>
          <a:p>
            <a:r>
              <a:rPr lang="en-IN" dirty="0"/>
              <a:t>Fault Isolation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070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9BDD8-BC80-0881-2306-4D42A9ED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Responsibility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7D707-97B9-A9B2-3A58-78E091594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356"/>
            <a:ext cx="10515600" cy="512956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One Service = One Business Capability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Examples</a:t>
            </a:r>
          </a:p>
          <a:p>
            <a:pPr marL="0" indent="0">
              <a:buNone/>
            </a:pPr>
            <a:r>
              <a:rPr lang="en-IN" dirty="0"/>
              <a:t>Product Service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Products Only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Order Service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Orders Only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Payment Service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Payments Only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Each service focuses on solving </a:t>
            </a:r>
            <a:r>
              <a:rPr lang="en-IN" b="1" dirty="0"/>
              <a:t>one business problem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187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5F51-D377-D696-C809-B71902E0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Independent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625CF-66E1-2A3D-87DF-EFB78199E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Traditional Deployment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Small Product Change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Deploy Entire Application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Microservices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Product Change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Deploy Product Service Only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168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18A50-F58C-6858-CE22-3954C416E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2E8CC-77BA-D41E-8250-CBBF9E28B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Faster releases </a:t>
            </a:r>
          </a:p>
          <a:p>
            <a:r>
              <a:rPr lang="en-IN" dirty="0"/>
              <a:t>Lower downtime </a:t>
            </a:r>
          </a:p>
          <a:p>
            <a:r>
              <a:rPr lang="en-IN" dirty="0"/>
              <a:t>Independent development teams</a:t>
            </a:r>
          </a:p>
        </p:txBody>
      </p:sp>
    </p:spTree>
    <p:extLst>
      <p:ext uri="{BB962C8B-B14F-4D97-AF65-F5344CB8AC3E}">
        <p14:creationId xmlns:p14="http://schemas.microsoft.com/office/powerpoint/2010/main" val="3285627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43F7-5FA4-F3CC-D1F5-711B397B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per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B2DAD-C2B8-9EF1-9209-CFF01C2F8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service should </a:t>
            </a:r>
            <a:r>
              <a:rPr lang="en-IN" b="1" dirty="0"/>
              <a:t>never access another service's database directly.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719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5CEF-3762-4A0B-FB8B-2E659DA3B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API-Based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3183F-58AF-1303-B908-DD7164977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Services communicate exactly the way external clients communicate.</a:t>
            </a:r>
          </a:p>
          <a:p>
            <a:pPr marL="0" indent="0">
              <a:buNone/>
            </a:pPr>
            <a:r>
              <a:rPr lang="en-IN" dirty="0"/>
              <a:t>They use:</a:t>
            </a:r>
          </a:p>
          <a:p>
            <a:pPr lvl="1"/>
            <a:r>
              <a:rPr lang="en-IN" dirty="0"/>
              <a:t>REST APIs </a:t>
            </a:r>
          </a:p>
          <a:p>
            <a:pPr lvl="1"/>
            <a:r>
              <a:rPr lang="en-IN" dirty="0"/>
              <a:t>HTTP </a:t>
            </a:r>
          </a:p>
          <a:p>
            <a:pPr lvl="1"/>
            <a:r>
              <a:rPr lang="en-IN" dirty="0"/>
              <a:t>JSON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013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6330C-1AB3-B66F-2554-469208C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Independent Scaling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EF0B4D-7450-FC58-3C10-D7C1B6429A0D}"/>
              </a:ext>
            </a:extLst>
          </p:cNvPr>
          <p:cNvSpPr txBox="1"/>
          <p:nvPr/>
        </p:nvSpPr>
        <p:spPr>
          <a:xfrm>
            <a:off x="630936" y="2660904"/>
            <a:ext cx="6074664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Imagine this traffic: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Only </a:t>
            </a:r>
            <a:r>
              <a:rPr lang="en-US" sz="2200" b="1" dirty="0"/>
              <a:t>Product Service</a:t>
            </a:r>
            <a:r>
              <a:rPr lang="en-US" sz="2200" dirty="0"/>
              <a:t> requires additional instances.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Load Balancer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              │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 ┌────┴────┐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Product  </a:t>
            </a:r>
            <a:r>
              <a:rPr lang="en-US" sz="2200" dirty="0" err="1"/>
              <a:t>Product</a:t>
            </a:r>
            <a:endParaRPr lang="en-US" sz="22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Service  </a:t>
            </a:r>
            <a:r>
              <a:rPr lang="en-US" sz="2200" dirty="0" err="1"/>
              <a:t>Service</a:t>
            </a:r>
            <a:endParaRPr lang="en-US" sz="22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132DB91-A25C-8478-EF9E-9C182C3DB6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364258"/>
              </p:ext>
            </p:extLst>
          </p:nvPr>
        </p:nvGraphicFramePr>
        <p:xfrm>
          <a:off x="6388981" y="1502116"/>
          <a:ext cx="5458968" cy="385376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{69012ECD-51FC-41F1-AA8D-1B2483CD663E}</a:tableStyleId>
              </a:tblPr>
              <a:tblGrid>
                <a:gridCol w="2160522">
                  <a:extLst>
                    <a:ext uri="{9D8B030D-6E8A-4147-A177-3AD203B41FA5}">
                      <a16:colId xmlns:a16="http://schemas.microsoft.com/office/drawing/2014/main" val="759383378"/>
                    </a:ext>
                  </a:extLst>
                </a:gridCol>
                <a:gridCol w="3298446">
                  <a:extLst>
                    <a:ext uri="{9D8B030D-6E8A-4147-A177-3AD203B41FA5}">
                      <a16:colId xmlns:a16="http://schemas.microsoft.com/office/drawing/2014/main" val="474237809"/>
                    </a:ext>
                  </a:extLst>
                </a:gridCol>
              </a:tblGrid>
              <a:tr h="867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cap="none" spc="0">
                          <a:solidFill>
                            <a:schemeClr val="tx1"/>
                          </a:solidFill>
                        </a:rPr>
                        <a:t>Service</a:t>
                      </a:r>
                    </a:p>
                  </a:txBody>
                  <a:tcPr marL="127447" marR="316074" marT="36414" marB="27310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cap="none" spc="0">
                          <a:solidFill>
                            <a:schemeClr val="tx1"/>
                          </a:solidFill>
                        </a:rPr>
                        <a:t>Requests/sec</a:t>
                      </a:r>
                    </a:p>
                  </a:txBody>
                  <a:tcPr marL="127447" marR="316074" marT="36414" marB="27310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362603"/>
                  </a:ext>
                </a:extLst>
              </a:tr>
              <a:tr h="746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</a:txBody>
                  <a:tcPr marL="127447" marR="316074" marT="36414" marB="273102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100,000</a:t>
                      </a:r>
                    </a:p>
                  </a:txBody>
                  <a:tcPr marL="127447" marR="316074" marT="36414" marB="2731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297664"/>
                  </a:ext>
                </a:extLst>
              </a:tr>
              <a:tr h="746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Order</a:t>
                      </a:r>
                    </a:p>
                  </a:txBody>
                  <a:tcPr marL="127447" marR="316074" marT="36414" marB="273102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20,000</a:t>
                      </a:r>
                    </a:p>
                  </a:txBody>
                  <a:tcPr marL="127447" marR="316074" marT="36414" marB="2731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611950"/>
                  </a:ext>
                </a:extLst>
              </a:tr>
              <a:tr h="746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Payment</a:t>
                      </a:r>
                    </a:p>
                  </a:txBody>
                  <a:tcPr marL="127447" marR="316074" marT="36414" marB="273102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8,000</a:t>
                      </a:r>
                    </a:p>
                  </a:txBody>
                  <a:tcPr marL="127447" marR="316074" marT="36414" marB="2731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505742"/>
                  </a:ext>
                </a:extLst>
              </a:tr>
              <a:tr h="746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Notification</a:t>
                      </a:r>
                    </a:p>
                  </a:txBody>
                  <a:tcPr marL="127447" marR="316074" marT="36414" marB="273102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 dirty="0">
                          <a:solidFill>
                            <a:schemeClr val="tx1"/>
                          </a:solidFill>
                        </a:rPr>
                        <a:t>1,500</a:t>
                      </a:r>
                    </a:p>
                  </a:txBody>
                  <a:tcPr marL="127447" marR="316074" marT="36414" marB="2731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573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685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25D5D-5F0D-2267-C1BB-A670F43E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Fault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52E56-93DE-441A-0758-C0EDA25B3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620"/>
            <a:ext cx="10515600" cy="525594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Scenario</a:t>
            </a:r>
          </a:p>
          <a:p>
            <a:pPr marL="0" indent="0">
              <a:buNone/>
            </a:pPr>
            <a:r>
              <a:rPr lang="en-IN" dirty="0"/>
              <a:t>Notification Service crashes.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Question:</a:t>
            </a:r>
          </a:p>
          <a:p>
            <a:pPr marL="0" indent="0">
              <a:buNone/>
            </a:pPr>
            <a:r>
              <a:rPr lang="en-IN" dirty="0"/>
              <a:t>Can customers still browse products?</a:t>
            </a:r>
          </a:p>
          <a:p>
            <a:pPr marL="0" indent="0">
              <a:buNone/>
            </a:pPr>
            <a:r>
              <a:rPr lang="en-IN" dirty="0"/>
              <a:t>Answer</a:t>
            </a:r>
          </a:p>
          <a:p>
            <a:pPr marL="0" indent="0">
              <a:buNone/>
            </a:pPr>
            <a:r>
              <a:rPr lang="en-IN" dirty="0"/>
              <a:t>✔ Yes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Can they place orders?</a:t>
            </a:r>
          </a:p>
          <a:p>
            <a:pPr marL="0" indent="0">
              <a:buNone/>
            </a:pPr>
            <a:r>
              <a:rPr lang="en-IN" dirty="0"/>
              <a:t>✔ Yes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Can payments continue?</a:t>
            </a:r>
          </a:p>
          <a:p>
            <a:pPr marL="0" indent="0">
              <a:buNone/>
            </a:pPr>
            <a:r>
              <a:rPr lang="en-IN" dirty="0"/>
              <a:t>✔ Yes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Only notifications stop working.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2203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1EC7-2088-74D6-12E8-987C83F5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Monolithic vs Microservices</a:t>
            </a:r>
          </a:p>
        </p:txBody>
      </p:sp>
      <p:graphicFrame>
        <p:nvGraphicFramePr>
          <p:cNvPr id="31" name="Content Placeholder 30">
            <a:extLst>
              <a:ext uri="{FF2B5EF4-FFF2-40B4-BE49-F238E27FC236}">
                <a16:creationId xmlns:a16="http://schemas.microsoft.com/office/drawing/2014/main" id="{D07723BA-573A-3E1B-2F9A-B2D06C746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2094887"/>
              </p:ext>
            </p:extLst>
          </p:nvPr>
        </p:nvGraphicFramePr>
        <p:xfrm>
          <a:off x="838200" y="1825625"/>
          <a:ext cx="10515597" cy="3337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2367151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113064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65513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Monilithic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Microservice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57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Single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Independent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341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Codebase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853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Database per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18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Entire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Individual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18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Usually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Can Vary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925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May Affect Entire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Unually</a:t>
                      </a:r>
                      <a:r>
                        <a:rPr lang="en-IN" dirty="0"/>
                        <a:t> Isolated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445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Team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One Large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 Teams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15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Cloud </a:t>
                      </a:r>
                      <a:r>
                        <a:rPr lang="en-IN" dirty="0" err="1"/>
                        <a:t>Rediness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973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262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CE2007-BC54-C0D9-49DD-7B834055CE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Why Spring Boot?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B93E7AE-F5A1-026C-3E5C-9182166496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84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AF59-6CE6-9B77-A38D-5ABFBAD53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Spring Boot?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8A91-FB18-5EB2-11CA-30D4A98E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Spring Boot is an extension of the Spring Framework that simplifies Java application development by providing sensible defaults and reducing configuration.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Why Developers prefer Spring Boot</a:t>
            </a:r>
          </a:p>
          <a:p>
            <a:pPr lvl="1"/>
            <a:r>
              <a:rPr lang="en-IN" dirty="0"/>
              <a:t>Less configuration </a:t>
            </a:r>
          </a:p>
          <a:p>
            <a:pPr lvl="1"/>
            <a:r>
              <a:rPr lang="en-IN" dirty="0"/>
              <a:t>Faster development </a:t>
            </a:r>
          </a:p>
          <a:p>
            <a:pPr lvl="1"/>
            <a:r>
              <a:rPr lang="en-IN" dirty="0"/>
              <a:t>Production-ready </a:t>
            </a:r>
          </a:p>
          <a:p>
            <a:pPr lvl="1"/>
            <a:r>
              <a:rPr lang="en-IN" dirty="0"/>
              <a:t>Embedded Tomcat </a:t>
            </a:r>
          </a:p>
          <a:p>
            <a:pPr lvl="1"/>
            <a:r>
              <a:rPr lang="en-IN" dirty="0"/>
              <a:t>Auto Configuration </a:t>
            </a:r>
          </a:p>
          <a:p>
            <a:pPr lvl="1"/>
            <a:r>
              <a:rPr lang="en-IN" dirty="0"/>
              <a:t>Starter Dependencies </a:t>
            </a:r>
          </a:p>
          <a:p>
            <a:pPr lvl="1"/>
            <a:r>
              <a:rPr lang="en-IN" dirty="0"/>
              <a:t>Excellent for REST APIs </a:t>
            </a:r>
          </a:p>
          <a:p>
            <a:pPr lvl="1"/>
            <a:r>
              <a:rPr lang="en-IN" dirty="0"/>
              <a:t>Cloud-friendly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9805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DAC8-A10E-F12B-FB53-5A9E2F97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Spring Boot for Microservices?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C606F-03A7-8169-C33B-212D83744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Rapid Development</a:t>
            </a:r>
          </a:p>
          <a:p>
            <a:r>
              <a:rPr lang="en-IN" dirty="0"/>
              <a:t>Minimal Configuration</a:t>
            </a:r>
          </a:p>
          <a:p>
            <a:r>
              <a:rPr lang="en-IN" dirty="0"/>
              <a:t>Embedded Server</a:t>
            </a:r>
          </a:p>
          <a:p>
            <a:r>
              <a:rPr lang="en-IN" dirty="0"/>
              <a:t>Easy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7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C87D4-C9A5-BB13-1DAD-954257C6A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72ED9-02A4-F2EB-031A-1ACEB8158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Auto Configuration</a:t>
            </a:r>
          </a:p>
          <a:p>
            <a:pPr marL="457200" lvl="1" indent="0">
              <a:buNone/>
            </a:pPr>
            <a:r>
              <a:rPr lang="en-IN" dirty="0"/>
              <a:t>Automatically configures components based on dependencies.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Starter Dependencies</a:t>
            </a:r>
          </a:p>
          <a:p>
            <a:pPr marL="457200" lvl="1" indent="0">
              <a:buNone/>
            </a:pPr>
            <a:r>
              <a:rPr lang="en-IN" dirty="0"/>
              <a:t>One dependency adds all required libraries.</a:t>
            </a:r>
          </a:p>
          <a:p>
            <a:pPr marL="0" indent="0">
              <a:buNone/>
            </a:pPr>
            <a:r>
              <a:rPr lang="en-IN" dirty="0"/>
              <a:t>Example</a:t>
            </a:r>
          </a:p>
          <a:p>
            <a:pPr marL="457200" lvl="1" indent="0">
              <a:buNone/>
            </a:pPr>
            <a:r>
              <a:rPr lang="en-IN" dirty="0"/>
              <a:t>spring-boot-starter-web</a:t>
            </a:r>
          </a:p>
          <a:p>
            <a:pPr marL="0" indent="0">
              <a:buNone/>
            </a:pPr>
            <a:r>
              <a:rPr lang="en-IN" dirty="0"/>
              <a:t>Includes</a:t>
            </a:r>
          </a:p>
          <a:p>
            <a:pPr lvl="1"/>
            <a:r>
              <a:rPr lang="en-IN" dirty="0"/>
              <a:t>Spring MVC </a:t>
            </a:r>
          </a:p>
          <a:p>
            <a:pPr lvl="1"/>
            <a:r>
              <a:rPr lang="en-IN" dirty="0"/>
              <a:t>Jackson </a:t>
            </a:r>
          </a:p>
          <a:p>
            <a:pPr lvl="1"/>
            <a:r>
              <a:rPr lang="en-IN" dirty="0"/>
              <a:t>Embedded Tomcat </a:t>
            </a:r>
          </a:p>
          <a:p>
            <a:pPr lvl="1"/>
            <a:r>
              <a:rPr lang="en-IN" dirty="0"/>
              <a:t>Validation Support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430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B4672-653E-C176-351D-07F83BFE4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9A6BE-96C0-2C88-F55D-9DB5C8FAB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Embedded Web Server</a:t>
            </a:r>
          </a:p>
          <a:p>
            <a:pPr marL="457200" lvl="1" indent="0">
              <a:buNone/>
            </a:pPr>
            <a:r>
              <a:rPr lang="en-IN" dirty="0"/>
              <a:t>No external Tomcat installation required.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Externalized Configuration</a:t>
            </a:r>
          </a:p>
          <a:p>
            <a:pPr marL="457200" lvl="1" indent="0">
              <a:buNone/>
            </a:pPr>
            <a:r>
              <a:rPr lang="en-IN" dirty="0"/>
              <a:t>Configuration stored in:</a:t>
            </a:r>
          </a:p>
          <a:p>
            <a:pPr marL="914400" lvl="2" indent="0">
              <a:buNone/>
            </a:pPr>
            <a:r>
              <a:rPr lang="en-IN" dirty="0" err="1"/>
              <a:t>application.properties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937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0B967F-C26F-020E-39E0-6E4AD1D4D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What is an API?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51895ED-E6EA-D243-A3EE-2FCC765DF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270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18669-D63B-7C29-3FA6-2BAC08FF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 (Application Programming Interface)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71A41-9AEF-FDC8-D49A-32646CB42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An API is a contract that allows two software applications to communicate with each other.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Real-World Examples</a:t>
            </a:r>
          </a:p>
          <a:p>
            <a:pPr lvl="1"/>
            <a:r>
              <a:rPr lang="en-IN" dirty="0"/>
              <a:t>Amazon App ↔ Backend Server </a:t>
            </a:r>
          </a:p>
          <a:p>
            <a:pPr lvl="1"/>
            <a:r>
              <a:rPr lang="en-IN" dirty="0"/>
              <a:t>Swiggy App ↔ Restaurant System </a:t>
            </a:r>
          </a:p>
          <a:p>
            <a:pPr lvl="1"/>
            <a:r>
              <a:rPr lang="en-IN" dirty="0"/>
              <a:t>UPI App ↔ Bank Server </a:t>
            </a:r>
          </a:p>
          <a:p>
            <a:pPr lvl="1"/>
            <a:r>
              <a:rPr lang="en-IN" dirty="0"/>
              <a:t>Mobile App ↔ Spring Boot Application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8965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12C5-A873-2B94-A673-99E540E9E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REST?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0EF9B-48BA-30D6-5C54-7AD74B6C7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Representational State Transfer</a:t>
            </a:r>
            <a:endParaRPr lang="en-IN" dirty="0"/>
          </a:p>
          <a:p>
            <a:pPr lvl="1"/>
            <a:r>
              <a:rPr lang="en-IN" dirty="0"/>
              <a:t>REST is an architectural style used to build web services using HTTP.</a:t>
            </a:r>
          </a:p>
          <a:p>
            <a:pPr marL="0" indent="0">
              <a:buNone/>
            </a:pPr>
            <a:r>
              <a:rPr lang="en-IN" b="1" dirty="0"/>
              <a:t>REST is Resource-Oriented</a:t>
            </a:r>
          </a:p>
          <a:p>
            <a:pPr marL="0" indent="0">
              <a:buNone/>
            </a:pPr>
            <a:r>
              <a:rPr lang="en-IN" dirty="0"/>
              <a:t>Examples of Resources</a:t>
            </a:r>
          </a:p>
          <a:p>
            <a:pPr lvl="1"/>
            <a:r>
              <a:rPr lang="en-IN" dirty="0"/>
              <a:t>Products</a:t>
            </a:r>
          </a:p>
          <a:p>
            <a:pPr lvl="1"/>
            <a:r>
              <a:rPr lang="en-IN" dirty="0"/>
              <a:t>Customers</a:t>
            </a:r>
          </a:p>
          <a:p>
            <a:pPr lvl="1"/>
            <a:r>
              <a:rPr lang="en-IN" dirty="0"/>
              <a:t>Orders</a:t>
            </a:r>
          </a:p>
          <a:p>
            <a:pPr lvl="1"/>
            <a:r>
              <a:rPr lang="en-IN" dirty="0"/>
              <a:t>Payments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dirty="0"/>
              <a:t>Each resource is identified using a unique URL.</a:t>
            </a:r>
          </a:p>
          <a:p>
            <a:pPr marL="0" indent="0">
              <a:buNone/>
            </a:pPr>
            <a:r>
              <a:rPr lang="en-IN" dirty="0"/>
              <a:t>Example</a:t>
            </a:r>
          </a:p>
          <a:p>
            <a:pPr marL="457200" lvl="1" indent="0">
              <a:buNone/>
            </a:pPr>
            <a:r>
              <a:rPr lang="en-IN" dirty="0"/>
              <a:t>/products</a:t>
            </a:r>
          </a:p>
          <a:p>
            <a:pPr marL="457200" lvl="1" indent="0">
              <a:buNone/>
            </a:pPr>
            <a:r>
              <a:rPr lang="en-IN" dirty="0"/>
              <a:t>/orders</a:t>
            </a:r>
          </a:p>
          <a:p>
            <a:pPr marL="457200" lvl="1" indent="0">
              <a:buNone/>
            </a:pPr>
            <a:r>
              <a:rPr lang="en-IN" dirty="0"/>
              <a:t>/customers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234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27C3-A3AF-C8BA-B8D4-BB6979029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6A4A2-D0EA-FE90-E8AF-75B29CC47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Client</a:t>
            </a:r>
          </a:p>
          <a:p>
            <a:pPr marL="0" indent="0">
              <a:buNone/>
            </a:pPr>
            <a:r>
              <a:rPr lang="en-IN" dirty="0"/>
              <a:t>     │</a:t>
            </a:r>
          </a:p>
          <a:p>
            <a:pPr marL="0" indent="0">
              <a:buNone/>
            </a:pPr>
            <a:r>
              <a:rPr lang="en-IN" dirty="0"/>
              <a:t>HTTP Request</a:t>
            </a:r>
          </a:p>
          <a:p>
            <a:pPr marL="0" indent="0">
              <a:buNone/>
            </a:pPr>
            <a:r>
              <a:rPr lang="en-IN" dirty="0"/>
              <a:t>     │</a:t>
            </a:r>
          </a:p>
          <a:p>
            <a:pPr marL="0" indent="0">
              <a:buNone/>
            </a:pPr>
            <a:r>
              <a:rPr lang="en-IN" dirty="0"/>
              <a:t>REST API</a:t>
            </a:r>
          </a:p>
          <a:p>
            <a:pPr marL="0" indent="0">
              <a:buNone/>
            </a:pPr>
            <a:r>
              <a:rPr lang="en-IN" dirty="0"/>
              <a:t>     │</a:t>
            </a:r>
          </a:p>
          <a:p>
            <a:pPr marL="0" indent="0">
              <a:buNone/>
            </a:pPr>
            <a:r>
              <a:rPr lang="en-IN" dirty="0"/>
              <a:t>Business Logic</a:t>
            </a:r>
          </a:p>
          <a:p>
            <a:pPr marL="0" indent="0">
              <a:buNone/>
            </a:pPr>
            <a:r>
              <a:rPr lang="en-IN" dirty="0"/>
              <a:t>     │</a:t>
            </a:r>
          </a:p>
          <a:p>
            <a:pPr marL="0" indent="0">
              <a:buNone/>
            </a:pPr>
            <a:r>
              <a:rPr lang="en-IN" dirty="0"/>
              <a:t>Database</a:t>
            </a:r>
          </a:p>
          <a:p>
            <a:pPr marL="0" indent="0">
              <a:buNone/>
            </a:pPr>
            <a:r>
              <a:rPr lang="en-IN" dirty="0"/>
              <a:t>     │</a:t>
            </a:r>
          </a:p>
          <a:p>
            <a:pPr marL="0" indent="0">
              <a:buNone/>
            </a:pPr>
            <a:r>
              <a:rPr lang="en-IN" dirty="0"/>
              <a:t>JSON Response</a:t>
            </a:r>
          </a:p>
          <a:p>
            <a:pPr marL="0" indent="0">
              <a:buNone/>
            </a:pPr>
            <a:r>
              <a:rPr lang="en-IN" dirty="0"/>
              <a:t>     │</a:t>
            </a:r>
          </a:p>
          <a:p>
            <a:pPr marL="0" indent="0">
              <a:buNone/>
            </a:pPr>
            <a:r>
              <a:rPr lang="en-IN" dirty="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648364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DAAF4-B971-A6FB-B32E-39E2042A3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3325D-E831-BC75-5314-F0BB6B793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Stateless</a:t>
            </a:r>
          </a:p>
          <a:p>
            <a:r>
              <a:rPr lang="en-IN" dirty="0"/>
              <a:t>Client-Server</a:t>
            </a:r>
          </a:p>
          <a:p>
            <a:r>
              <a:rPr lang="en-IN" dirty="0"/>
              <a:t>Uniform Interface</a:t>
            </a:r>
          </a:p>
          <a:p>
            <a:r>
              <a:rPr lang="en-IN" dirty="0"/>
              <a:t>Resource-Based</a:t>
            </a:r>
          </a:p>
          <a:p>
            <a:r>
              <a:rPr lang="en-IN" dirty="0"/>
              <a:t>Cacheable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662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C0110-2608-4D59-19B6-398277BAC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 Methods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D0994-DC09-C3F5-9A6A-D4CA251D80D8}"/>
              </a:ext>
            </a:extLst>
          </p:cNvPr>
          <p:cNvSpPr txBox="1"/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CRUD Operations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0180AA-C53C-F1AA-C99F-C14BC5FC68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088578"/>
              </p:ext>
            </p:extLst>
          </p:nvPr>
        </p:nvGraphicFramePr>
        <p:xfrm>
          <a:off x="437326" y="2633472"/>
          <a:ext cx="11314300" cy="3586355"/>
        </p:xfrm>
        <a:graphic>
          <a:graphicData uri="http://schemas.openxmlformats.org/drawingml/2006/table">
            <a:tbl>
              <a:tblPr/>
              <a:tblGrid>
                <a:gridCol w="6264052">
                  <a:extLst>
                    <a:ext uri="{9D8B030D-6E8A-4147-A177-3AD203B41FA5}">
                      <a16:colId xmlns:a16="http://schemas.microsoft.com/office/drawing/2014/main" val="3774887748"/>
                    </a:ext>
                  </a:extLst>
                </a:gridCol>
                <a:gridCol w="5050248">
                  <a:extLst>
                    <a:ext uri="{9D8B030D-6E8A-4147-A177-3AD203B41FA5}">
                      <a16:colId xmlns:a16="http://schemas.microsoft.com/office/drawing/2014/main" val="2480936476"/>
                    </a:ext>
                  </a:extLst>
                </a:gridCol>
              </a:tblGrid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HTTP Method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Operation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845864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GET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Read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265951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POST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Create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138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PUT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Update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808786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DELETE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Delete</a:t>
                      </a:r>
                    </a:p>
                  </a:txBody>
                  <a:tcPr marL="163016" marR="163016" marT="81508" marB="81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977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4039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AD8A-3E28-985F-A2F2-ED572074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2C37D-0BC7-D853-4E35-5CD30819E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nouns</a:t>
            </a:r>
          </a:p>
          <a:p>
            <a:r>
              <a:rPr lang="en-IN" dirty="0"/>
              <a:t>Use plural names</a:t>
            </a:r>
          </a:p>
          <a:p>
            <a:r>
              <a:rPr lang="en-IN" dirty="0"/>
              <a:t>Keep URLs meaningful</a:t>
            </a:r>
          </a:p>
          <a:p>
            <a:r>
              <a:rPr lang="en-IN" dirty="0"/>
              <a:t>Use Path Variables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64327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5B6A9-AD2D-06BC-7713-D41D8CE3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 Status Codes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D0136-4FA0-4761-A128-8B73B46DE9F7}"/>
              </a:ext>
            </a:extLst>
          </p:cNvPr>
          <p:cNvSpPr txBox="1"/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Successful Responses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65A7AD-8481-C27C-B73B-83662DC51B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4957916"/>
              </p:ext>
            </p:extLst>
          </p:nvPr>
        </p:nvGraphicFramePr>
        <p:xfrm>
          <a:off x="994211" y="2951416"/>
          <a:ext cx="10200530" cy="295046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830521">
                  <a:extLst>
                    <a:ext uri="{9D8B030D-6E8A-4147-A177-3AD203B41FA5}">
                      <a16:colId xmlns:a16="http://schemas.microsoft.com/office/drawing/2014/main" val="3467045501"/>
                    </a:ext>
                  </a:extLst>
                </a:gridCol>
                <a:gridCol w="6370009">
                  <a:extLst>
                    <a:ext uri="{9D8B030D-6E8A-4147-A177-3AD203B41FA5}">
                      <a16:colId xmlns:a16="http://schemas.microsoft.com/office/drawing/2014/main" val="2865097069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Code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Meaning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47640062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200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OK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24661092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201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Created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69766107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204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No Content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965667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9150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6F10B-569E-BA38-0BD2-70A76A7E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 Status Codes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490B6-066E-36E8-4395-6F349512326A}"/>
              </a:ext>
            </a:extLst>
          </p:cNvPr>
          <p:cNvSpPr txBox="1"/>
          <p:nvPr/>
        </p:nvSpPr>
        <p:spPr>
          <a:xfrm>
            <a:off x="638881" y="2419141"/>
            <a:ext cx="10909643" cy="552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 Errors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4401F7-58F0-0963-9EB3-9D082AEA1D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21545"/>
              </p:ext>
            </p:extLst>
          </p:nvPr>
        </p:nvGraphicFramePr>
        <p:xfrm>
          <a:off x="320040" y="3254871"/>
          <a:ext cx="11548873" cy="2841523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4795041">
                  <a:extLst>
                    <a:ext uri="{9D8B030D-6E8A-4147-A177-3AD203B41FA5}">
                      <a16:colId xmlns:a16="http://schemas.microsoft.com/office/drawing/2014/main" val="4223895120"/>
                    </a:ext>
                  </a:extLst>
                </a:gridCol>
                <a:gridCol w="6753832">
                  <a:extLst>
                    <a:ext uri="{9D8B030D-6E8A-4147-A177-3AD203B41FA5}">
                      <a16:colId xmlns:a16="http://schemas.microsoft.com/office/drawing/2014/main" val="3390279494"/>
                    </a:ext>
                  </a:extLst>
                </a:gridCol>
              </a:tblGrid>
              <a:tr h="994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b="0" cap="none" spc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marL="392180" marR="392180" marT="213916" marB="19609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b="0" cap="none" spc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marL="392180" marR="392180" marT="213916" marB="19609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985857"/>
                  </a:ext>
                </a:extLst>
              </a:tr>
              <a:tr h="923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marL="392180" marR="392180" marT="213916" marB="1960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>
                          <a:solidFill>
                            <a:schemeClr val="tx1"/>
                          </a:solidFill>
                        </a:rPr>
                        <a:t>Bad Request</a:t>
                      </a:r>
                    </a:p>
                  </a:txBody>
                  <a:tcPr marL="392180" marR="392180" marT="213916" marB="1960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845667"/>
                  </a:ext>
                </a:extLst>
              </a:tr>
              <a:tr h="923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>
                          <a:solidFill>
                            <a:schemeClr val="tx1"/>
                          </a:solidFill>
                        </a:rPr>
                        <a:t>404</a:t>
                      </a:r>
                    </a:p>
                  </a:txBody>
                  <a:tcPr marL="392180" marR="392180" marT="213916" marB="1960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>
                          <a:solidFill>
                            <a:schemeClr val="tx1"/>
                          </a:solidFill>
                        </a:rPr>
                        <a:t>Not Found</a:t>
                      </a:r>
                    </a:p>
                  </a:txBody>
                  <a:tcPr marL="392180" marR="392180" marT="213916" marB="1960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86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1923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A0AA7-84B4-AF20-0C62-FFE0718E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 Status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16F59-72AF-584F-A4B1-3FE3ECB3323C}"/>
              </a:ext>
            </a:extLst>
          </p:cNvPr>
          <p:cNvSpPr txBox="1"/>
          <p:nvPr/>
        </p:nvSpPr>
        <p:spPr>
          <a:xfrm>
            <a:off x="638881" y="2419141"/>
            <a:ext cx="10909643" cy="552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Server Errors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6EC98F-5C8F-B734-587C-B1E37FB846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028689"/>
              </p:ext>
            </p:extLst>
          </p:nvPr>
        </p:nvGraphicFramePr>
        <p:xfrm>
          <a:off x="3950080" y="3686556"/>
          <a:ext cx="4288791" cy="197815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18958">
                  <a:extLst>
                    <a:ext uri="{9D8B030D-6E8A-4147-A177-3AD203B41FA5}">
                      <a16:colId xmlns:a16="http://schemas.microsoft.com/office/drawing/2014/main" val="3178829604"/>
                    </a:ext>
                  </a:extLst>
                </a:gridCol>
                <a:gridCol w="2469833">
                  <a:extLst>
                    <a:ext uri="{9D8B030D-6E8A-4147-A177-3AD203B41FA5}">
                      <a16:colId xmlns:a16="http://schemas.microsoft.com/office/drawing/2014/main" val="1935900028"/>
                    </a:ext>
                  </a:extLst>
                </a:gridCol>
              </a:tblGrid>
              <a:tr h="874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b="1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marL="335280" marR="251460" marT="167640" marB="1676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marL="335280" marR="251460" marT="167640" marB="167640" anchor="ctr"/>
                </a:tc>
                <a:extLst>
                  <a:ext uri="{0D108BD9-81ED-4DB2-BD59-A6C34878D82A}">
                    <a16:rowId xmlns:a16="http://schemas.microsoft.com/office/drawing/2014/main" val="1747571096"/>
                  </a:ext>
                </a:extLst>
              </a:tr>
              <a:tr h="1103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</a:t>
                      </a:r>
                    </a:p>
                  </a:txBody>
                  <a:tcPr marL="335280" marR="251460" marT="167640" marB="1676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Internal Server Error</a:t>
                      </a:r>
                    </a:p>
                  </a:txBody>
                  <a:tcPr marL="335280" marR="251460" marT="167640" marB="167640" anchor="ctr"/>
                </a:tc>
                <a:extLst>
                  <a:ext uri="{0D108BD9-81ED-4DB2-BD59-A6C34878D82A}">
                    <a16:rowId xmlns:a16="http://schemas.microsoft.com/office/drawing/2014/main" val="2873336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112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4E62-686A-11C8-4626-C944A7CE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 API Design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BFE7D-767B-BC69-02C1-48926FE98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Follow These Rules</a:t>
            </a:r>
          </a:p>
          <a:p>
            <a:r>
              <a:rPr lang="en-IN" dirty="0"/>
              <a:t>Use HTTP Methods Correctly</a:t>
            </a:r>
          </a:p>
          <a:p>
            <a:r>
              <a:rPr lang="en-IN" dirty="0"/>
              <a:t>Use Meaningful URLs</a:t>
            </a:r>
          </a:p>
          <a:p>
            <a:r>
              <a:rPr lang="en-IN" dirty="0"/>
              <a:t>Return Proper Status Codes</a:t>
            </a:r>
          </a:p>
          <a:p>
            <a:r>
              <a:rPr lang="en-IN" dirty="0"/>
              <a:t>Exchange JSON</a:t>
            </a:r>
          </a:p>
          <a:p>
            <a:r>
              <a:rPr lang="en-IN" dirty="0"/>
              <a:t>Keep APIs Stateless</a:t>
            </a:r>
          </a:p>
          <a:p>
            <a:r>
              <a:rPr lang="en-IN" dirty="0"/>
              <a:t>Validate Input</a:t>
            </a:r>
          </a:p>
          <a:p>
            <a:r>
              <a:rPr lang="en-IN" dirty="0"/>
              <a:t>Handle Errors Gracefully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4397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6EEFA9-4D3A-734C-BA64-A5F15C1DC9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Building the Product Service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12BE67A-2D65-56B4-D33F-1A6F191556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9571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C68B-9D2C-B32A-3D0D-A3C81199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5000"/>
              <a:t>Creating a Spring Boot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EE946-2527-AC07-5303-CEB0736AE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200" dirty="0"/>
              <a:t>Spring </a:t>
            </a:r>
            <a:r>
              <a:rPr lang="en-IN" sz="2200" dirty="0" err="1"/>
              <a:t>Initializr</a:t>
            </a:r>
            <a:r>
              <a:rPr lang="en-IN" sz="2200" dirty="0"/>
              <a:t> Settings</a:t>
            </a:r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r>
              <a:rPr lang="en-IN" sz="2400" b="1" dirty="0"/>
              <a:t>Required Dependencies</a:t>
            </a:r>
          </a:p>
          <a:p>
            <a:pPr lvl="1"/>
            <a:r>
              <a:rPr lang="en-IN" sz="2000" dirty="0"/>
              <a:t>Spring Web </a:t>
            </a:r>
          </a:p>
          <a:p>
            <a:pPr lvl="1"/>
            <a:r>
              <a:rPr lang="en-IN" sz="2000" dirty="0"/>
              <a:t>Spring Data JPA </a:t>
            </a:r>
          </a:p>
          <a:p>
            <a:pPr lvl="1"/>
            <a:r>
              <a:rPr lang="en-IN" sz="2000" dirty="0"/>
              <a:t>Validation </a:t>
            </a:r>
          </a:p>
          <a:p>
            <a:pPr lvl="1"/>
            <a:r>
              <a:rPr lang="en-IN" sz="2000" dirty="0"/>
              <a:t>MySQL Driver</a:t>
            </a:r>
          </a:p>
          <a:p>
            <a:pPr marL="0" indent="0">
              <a:buNone/>
            </a:pPr>
            <a:endParaRPr lang="en-IN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A97FD0-EF6E-012B-780B-2067D98FE6C1}"/>
              </a:ext>
            </a:extLst>
          </p:cNvPr>
          <p:cNvGraphicFramePr>
            <a:graphicFrameLocks noGrp="1"/>
          </p:cNvGraphicFramePr>
          <p:nvPr/>
        </p:nvGraphicFramePr>
        <p:xfrm>
          <a:off x="6528139" y="1216152"/>
          <a:ext cx="4600787" cy="4425696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17536090"/>
                    </a:ext>
                  </a:extLst>
                </a:gridCol>
                <a:gridCol w="1834727">
                  <a:extLst>
                    <a:ext uri="{9D8B030D-6E8A-4147-A177-3AD203B41FA5}">
                      <a16:colId xmlns:a16="http://schemas.microsoft.com/office/drawing/2014/main" val="1618292664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Property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Value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4054642915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Project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Maven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66077385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Language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Java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629798615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Spring Boot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4.0.1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07894368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Java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21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07198730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Packaging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/>
                        <a:t>JAR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36322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6127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43835-C602-CE46-2B00-A7AE3D020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Configure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6E056-14A6-A278-4A35-68A6CBD34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8122"/>
            <a:ext cx="10515600" cy="480218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 err="1"/>
              <a:t>application.properties</a:t>
            </a:r>
            <a:endParaRPr lang="en-IN" b="1" dirty="0"/>
          </a:p>
          <a:p>
            <a:r>
              <a:rPr lang="en-IN" dirty="0"/>
              <a:t>spring.datasource.url=</a:t>
            </a:r>
            <a:r>
              <a:rPr lang="en-IN" dirty="0" err="1"/>
              <a:t>jdbc:mysql</a:t>
            </a:r>
            <a:r>
              <a:rPr lang="en-IN" dirty="0"/>
              <a:t>://localhost:3306/</a:t>
            </a:r>
            <a:r>
              <a:rPr lang="en-IN" dirty="0" err="1"/>
              <a:t>productdb</a:t>
            </a:r>
            <a:r>
              <a:rPr lang="en-IN" u="sng" dirty="0" err="1">
                <a:solidFill>
                  <a:srgbClr val="FF0000"/>
                </a:solidFill>
              </a:rPr>
              <a:t>?</a:t>
            </a:r>
            <a:r>
              <a:rPr lang="en-IN" u="sng" dirty="0" err="1"/>
              <a:t>createDatabaseIfNotExist</a:t>
            </a:r>
            <a:r>
              <a:rPr lang="en-IN" u="sng" dirty="0"/>
              <a:t>=</a:t>
            </a:r>
            <a:r>
              <a:rPr lang="en-IN" u="sng" dirty="0" err="1"/>
              <a:t>true</a:t>
            </a:r>
            <a:r>
              <a:rPr lang="en-IN" u="sng" dirty="0" err="1">
                <a:solidFill>
                  <a:srgbClr val="FF0000"/>
                </a:solidFill>
              </a:rPr>
              <a:t>&amp;</a:t>
            </a:r>
            <a:r>
              <a:rPr lang="en-IN" u="sng" dirty="0" err="1"/>
              <a:t>useSSL</a:t>
            </a:r>
            <a:r>
              <a:rPr lang="en-IN" u="sng" dirty="0"/>
              <a:t>=</a:t>
            </a:r>
            <a:r>
              <a:rPr lang="en-IN" u="sng" dirty="0" err="1"/>
              <a:t>false</a:t>
            </a:r>
            <a:r>
              <a:rPr lang="en-IN" u="sng" dirty="0" err="1">
                <a:solidFill>
                  <a:srgbClr val="FF0000"/>
                </a:solidFill>
              </a:rPr>
              <a:t>&amp;</a:t>
            </a:r>
            <a:r>
              <a:rPr lang="en-IN" u="sng" dirty="0" err="1"/>
              <a:t>allowPublicKeyRetrieval</a:t>
            </a:r>
            <a:r>
              <a:rPr lang="en-IN" u="sng" dirty="0"/>
              <a:t>=</a:t>
            </a:r>
            <a:r>
              <a:rPr lang="en-IN" u="sng" dirty="0" err="1"/>
              <a:t>true&amp;serverTimezone</a:t>
            </a:r>
            <a:r>
              <a:rPr lang="en-IN" u="sng" dirty="0"/>
              <a:t>=UTC</a:t>
            </a:r>
            <a:endParaRPr lang="en-IN" dirty="0"/>
          </a:p>
          <a:p>
            <a:r>
              <a:rPr lang="en-IN" dirty="0" err="1"/>
              <a:t>spring.datasource.username</a:t>
            </a:r>
            <a:r>
              <a:rPr lang="en-IN" dirty="0"/>
              <a:t>=root</a:t>
            </a:r>
          </a:p>
          <a:p>
            <a:r>
              <a:rPr lang="en-IN" dirty="0" err="1"/>
              <a:t>spring.datasource.password</a:t>
            </a:r>
            <a:r>
              <a:rPr lang="en-IN" dirty="0"/>
              <a:t>=******</a:t>
            </a:r>
          </a:p>
          <a:p>
            <a:r>
              <a:rPr lang="en-IN" dirty="0" err="1"/>
              <a:t>spring.datasource.driver</a:t>
            </a:r>
            <a:r>
              <a:rPr lang="en-IN" dirty="0"/>
              <a:t>-class-name=</a:t>
            </a:r>
            <a:r>
              <a:rPr lang="en-IN" dirty="0" err="1"/>
              <a:t>com.mysql.cj.jdbc.Driver</a:t>
            </a:r>
            <a:endParaRPr lang="en-IN" dirty="0"/>
          </a:p>
          <a:p>
            <a:endParaRPr lang="en-IN" dirty="0"/>
          </a:p>
          <a:p>
            <a:r>
              <a:rPr lang="en-IN" dirty="0" err="1"/>
              <a:t>spring.jpa.hibernate.ddl</a:t>
            </a:r>
            <a:r>
              <a:rPr lang="en-IN" dirty="0"/>
              <a:t>-auto=update</a:t>
            </a:r>
          </a:p>
          <a:p>
            <a:endParaRPr lang="en-IN" dirty="0"/>
          </a:p>
          <a:p>
            <a:r>
              <a:rPr lang="en-IN" dirty="0" err="1"/>
              <a:t>logging.level.org.hibernate.SQL</a:t>
            </a:r>
            <a:r>
              <a:rPr lang="en-IN" dirty="0"/>
              <a:t>=DEBUG</a:t>
            </a:r>
          </a:p>
          <a:p>
            <a:r>
              <a:rPr lang="en-IN" dirty="0" err="1"/>
              <a:t>logging.level.org.hibernate.orm.jdbc.bind</a:t>
            </a:r>
            <a:r>
              <a:rPr lang="en-IN" dirty="0"/>
              <a:t>=TRACE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1717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ABEB-33DD-9FE5-3A23-F9D8A6474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the Product Entity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1F333-BDD8-052A-C7E6-1A8A9E26F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97912" cy="491714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@Entity</a:t>
            </a:r>
          </a:p>
          <a:p>
            <a:pPr marL="0" indent="0">
              <a:buNone/>
            </a:pPr>
            <a:r>
              <a:rPr lang="en-IN" dirty="0"/>
              <a:t>@Table(name = "products")</a:t>
            </a:r>
          </a:p>
          <a:p>
            <a:pPr marL="0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Product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@Id</a:t>
            </a:r>
          </a:p>
          <a:p>
            <a:pPr marL="0" indent="0">
              <a:buNone/>
            </a:pPr>
            <a:r>
              <a:rPr lang="en-IN" dirty="0"/>
              <a:t>@GeneratedValue(strategy = </a:t>
            </a:r>
            <a:r>
              <a:rPr lang="en-IN" dirty="0" err="1"/>
              <a:t>GenerationType.</a:t>
            </a:r>
            <a:r>
              <a:rPr lang="en-IN" b="1" i="1" dirty="0" err="1"/>
              <a:t>IDENTITY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b="1" dirty="0"/>
              <a:t>private</a:t>
            </a:r>
            <a:r>
              <a:rPr lang="en-IN" dirty="0"/>
              <a:t> Long id;</a:t>
            </a:r>
          </a:p>
          <a:p>
            <a:pPr marL="0" indent="0">
              <a:buNone/>
            </a:pPr>
            <a:r>
              <a:rPr lang="en-IN" dirty="0"/>
              <a:t>@Column(name = "</a:t>
            </a:r>
            <a:r>
              <a:rPr lang="en-IN" dirty="0" err="1"/>
              <a:t>product_code</a:t>
            </a:r>
            <a:r>
              <a:rPr lang="en-IN" dirty="0"/>
              <a:t>", nullable = </a:t>
            </a:r>
            <a:r>
              <a:rPr lang="en-IN" b="1" dirty="0"/>
              <a:t>false</a:t>
            </a:r>
            <a:r>
              <a:rPr lang="en-IN" dirty="0"/>
              <a:t>, unique = </a:t>
            </a:r>
            <a:r>
              <a:rPr lang="en-IN" b="1" dirty="0"/>
              <a:t>true</a:t>
            </a:r>
            <a:r>
              <a:rPr lang="en-IN" dirty="0"/>
              <a:t>, length = 20)</a:t>
            </a:r>
          </a:p>
          <a:p>
            <a:pPr marL="0" indent="0">
              <a:buNone/>
            </a:pPr>
            <a:r>
              <a:rPr lang="en-IN" b="1" dirty="0"/>
              <a:t>private</a:t>
            </a:r>
            <a:r>
              <a:rPr lang="en-IN" dirty="0"/>
              <a:t> String </a:t>
            </a:r>
            <a:r>
              <a:rPr lang="en-IN" dirty="0" err="1"/>
              <a:t>productCode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@Column(nullable = </a:t>
            </a:r>
            <a:r>
              <a:rPr lang="en-IN" b="1" dirty="0"/>
              <a:t>false</a:t>
            </a:r>
            <a:r>
              <a:rPr lang="en-IN" dirty="0"/>
              <a:t>, length = 100)</a:t>
            </a:r>
          </a:p>
          <a:p>
            <a:pPr marL="0" indent="0">
              <a:buNone/>
            </a:pPr>
            <a:r>
              <a:rPr lang="en-IN" b="1" dirty="0"/>
              <a:t>private</a:t>
            </a:r>
            <a:r>
              <a:rPr lang="en-IN" dirty="0"/>
              <a:t> String name;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89512-EF25-86CA-0E13-7AC99E86BC0D}"/>
              </a:ext>
            </a:extLst>
          </p:cNvPr>
          <p:cNvSpPr txBox="1"/>
          <p:nvPr/>
        </p:nvSpPr>
        <p:spPr>
          <a:xfrm>
            <a:off x="6436111" y="2036956"/>
            <a:ext cx="46928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@Column(nullable = </a:t>
            </a:r>
            <a:r>
              <a:rPr lang="en-IN" b="1" dirty="0"/>
              <a:t>false</a:t>
            </a:r>
            <a:r>
              <a:rPr lang="en-IN" dirty="0"/>
              <a:t>, length = 500)</a:t>
            </a:r>
          </a:p>
          <a:p>
            <a:r>
              <a:rPr lang="en-IN" b="1" dirty="0"/>
              <a:t>private</a:t>
            </a:r>
            <a:r>
              <a:rPr lang="en-IN" dirty="0"/>
              <a:t> String description;</a:t>
            </a:r>
            <a:br>
              <a:rPr lang="en-IN" dirty="0"/>
            </a:br>
            <a:endParaRPr lang="en-IN" dirty="0"/>
          </a:p>
          <a:p>
            <a:r>
              <a:rPr lang="en-IN" dirty="0"/>
              <a:t>@Column(nullable = </a:t>
            </a:r>
            <a:r>
              <a:rPr lang="en-IN" b="1" dirty="0"/>
              <a:t>false</a:t>
            </a:r>
            <a:r>
              <a:rPr lang="en-IN" dirty="0"/>
              <a:t>, length = 50)</a:t>
            </a:r>
          </a:p>
          <a:p>
            <a:r>
              <a:rPr lang="en-IN" b="1" dirty="0"/>
              <a:t>private</a:t>
            </a:r>
            <a:r>
              <a:rPr lang="en-IN" dirty="0"/>
              <a:t> String category;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@Column(nullable = </a:t>
            </a:r>
            <a:r>
              <a:rPr lang="en-IN" b="1" dirty="0"/>
              <a:t>false</a:t>
            </a:r>
            <a:r>
              <a:rPr lang="en-IN" dirty="0"/>
              <a:t>)</a:t>
            </a:r>
          </a:p>
          <a:p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dirty="0" err="1"/>
              <a:t>BigDecimal</a:t>
            </a:r>
            <a:r>
              <a:rPr lang="en-IN" dirty="0"/>
              <a:t> price;</a:t>
            </a:r>
          </a:p>
          <a:p>
            <a:br>
              <a:rPr lang="en-IN" dirty="0"/>
            </a:br>
            <a:r>
              <a:rPr lang="en-IN" dirty="0"/>
              <a:t>@Column(name = "</a:t>
            </a:r>
            <a:r>
              <a:rPr lang="en-IN" dirty="0" err="1"/>
              <a:t>stock_quantity</a:t>
            </a:r>
            <a:r>
              <a:rPr lang="en-IN" dirty="0"/>
              <a:t>", nullable = </a:t>
            </a:r>
            <a:r>
              <a:rPr lang="en-IN" b="1" dirty="0"/>
              <a:t>false</a:t>
            </a:r>
            <a:r>
              <a:rPr lang="en-IN" dirty="0"/>
              <a:t>)</a:t>
            </a:r>
          </a:p>
          <a:p>
            <a:r>
              <a:rPr lang="en-IN" b="1" dirty="0"/>
              <a:t>private</a:t>
            </a:r>
            <a:r>
              <a:rPr lang="en-IN" dirty="0"/>
              <a:t> Integer </a:t>
            </a:r>
            <a:r>
              <a:rPr lang="en-IN" dirty="0" err="1"/>
              <a:t>stockQuantity</a:t>
            </a:r>
            <a:r>
              <a:rPr lang="en-IN" dirty="0"/>
              <a:t>;</a:t>
            </a:r>
          </a:p>
          <a:p>
            <a:r>
              <a:rPr lang="en-IN" dirty="0"/>
              <a:t>//constructor and getter and setter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AA10BA-FBF0-428B-23C4-5FBBB4BD28B2}"/>
              </a:ext>
            </a:extLst>
          </p:cNvPr>
          <p:cNvCxnSpPr/>
          <p:nvPr/>
        </p:nvCxnSpPr>
        <p:spPr>
          <a:xfrm>
            <a:off x="6096000" y="2103863"/>
            <a:ext cx="0" cy="42523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331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7CADF-7CAD-434E-3AF2-C44AC815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Repository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BECE2-94C1-9CDC-AAF6-2127D33A5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JpaRepository</a:t>
            </a:r>
            <a:r>
              <a:rPr lang="en-IN" dirty="0"/>
              <a:t>&lt;Product, Long&gt;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Provides built-in CRUD methods:</a:t>
            </a:r>
          </a:p>
          <a:p>
            <a:pPr lvl="1"/>
            <a:r>
              <a:rPr lang="en-IN" dirty="0"/>
              <a:t>save() </a:t>
            </a:r>
          </a:p>
          <a:p>
            <a:pPr lvl="1"/>
            <a:r>
              <a:rPr lang="en-IN" dirty="0" err="1"/>
              <a:t>findAll</a:t>
            </a:r>
            <a:r>
              <a:rPr lang="en-IN" dirty="0"/>
              <a:t>() </a:t>
            </a:r>
          </a:p>
          <a:p>
            <a:pPr lvl="1"/>
            <a:r>
              <a:rPr lang="en-IN" dirty="0" err="1"/>
              <a:t>findById</a:t>
            </a:r>
            <a:r>
              <a:rPr lang="en-IN" dirty="0"/>
              <a:t>() </a:t>
            </a:r>
          </a:p>
          <a:p>
            <a:pPr lvl="1"/>
            <a:r>
              <a:rPr lang="en-IN" dirty="0" err="1"/>
              <a:t>deleteById</a:t>
            </a:r>
            <a:r>
              <a:rPr lang="en-IN" dirty="0"/>
              <a:t>() </a:t>
            </a:r>
          </a:p>
          <a:p>
            <a:pPr lvl="1"/>
            <a:r>
              <a:rPr lang="en-IN" dirty="0"/>
              <a:t>count()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1467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77D44-4374-7469-7935-590E4A32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Service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7DF79-7B6A-ED37-ACFA-5B768C27B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Contains:</a:t>
            </a:r>
          </a:p>
          <a:p>
            <a:pPr lvl="1"/>
            <a:r>
              <a:rPr lang="en-IN" dirty="0"/>
              <a:t>Business Rules </a:t>
            </a:r>
          </a:p>
          <a:p>
            <a:pPr lvl="1"/>
            <a:r>
              <a:rPr lang="en-IN" dirty="0"/>
              <a:t>Validation Logic </a:t>
            </a:r>
          </a:p>
          <a:p>
            <a:pPr lvl="1"/>
            <a:r>
              <a:rPr lang="en-IN" dirty="0"/>
              <a:t>Workflow Coordination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60560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53DED-95F7-32AA-E807-00CEA933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Build the REST Controller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2F3CA-DE73-D231-B451-CAA9FD706195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Endpoints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Key Annotations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@RestController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@RequestMapping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@GetMapping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@PostMapping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@PutMapping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@DeleteMapping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B89F24-CA5E-60AD-B782-FAC8F16D65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0412576"/>
              </p:ext>
            </p:extLst>
          </p:nvPr>
        </p:nvGraphicFramePr>
        <p:xfrm>
          <a:off x="6236224" y="864108"/>
          <a:ext cx="5184617" cy="512978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86305">
                  <a:extLst>
                    <a:ext uri="{9D8B030D-6E8A-4147-A177-3AD203B41FA5}">
                      <a16:colId xmlns:a16="http://schemas.microsoft.com/office/drawing/2014/main" val="2212362393"/>
                    </a:ext>
                  </a:extLst>
                </a:gridCol>
                <a:gridCol w="2998312">
                  <a:extLst>
                    <a:ext uri="{9D8B030D-6E8A-4147-A177-3AD203B41FA5}">
                      <a16:colId xmlns:a16="http://schemas.microsoft.com/office/drawing/2014/main" val="2866487988"/>
                    </a:ext>
                  </a:extLst>
                </a:gridCol>
              </a:tblGrid>
              <a:tr h="85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URL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828421"/>
                  </a:ext>
                </a:extLst>
              </a:tr>
              <a:tr h="85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GET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/products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95645"/>
                  </a:ext>
                </a:extLst>
              </a:tr>
              <a:tr h="85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GET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/products/{id}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052308"/>
                  </a:ext>
                </a:extLst>
              </a:tr>
              <a:tr h="85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POST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/products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940696"/>
                  </a:ext>
                </a:extLst>
              </a:tr>
              <a:tr h="85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PUT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/products/{id}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906939"/>
                  </a:ext>
                </a:extLst>
              </a:tr>
              <a:tr h="854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DELETE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300" cap="none" spc="0">
                          <a:solidFill>
                            <a:schemeClr val="tx1"/>
                          </a:solidFill>
                        </a:rPr>
                        <a:t>/products/{id}</a:t>
                      </a:r>
                    </a:p>
                  </a:txBody>
                  <a:tcPr marL="0" marR="251460" marT="125730" marB="1257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495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0598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969A-7D15-7E30-7FCB-E68186842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A2973-1FFB-90F6-65E6-954945D9C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Why Validation?</a:t>
            </a:r>
          </a:p>
          <a:p>
            <a:pPr marL="457200" lvl="1" indent="0">
              <a:buNone/>
            </a:pPr>
            <a:r>
              <a:rPr lang="en-IN" dirty="0"/>
              <a:t>Prevent invalid data from entering the system.</a:t>
            </a:r>
          </a:p>
          <a:p>
            <a:pPr marL="0" indent="0">
              <a:buNone/>
            </a:pPr>
            <a:r>
              <a:rPr lang="en-IN" b="1" dirty="0"/>
              <a:t>Example Rules</a:t>
            </a:r>
          </a:p>
          <a:p>
            <a:pPr marL="457200" lvl="1" indent="0">
              <a:buNone/>
            </a:pPr>
            <a:r>
              <a:rPr lang="en-IN" dirty="0"/>
              <a:t>Product name cannot be blank </a:t>
            </a:r>
          </a:p>
          <a:p>
            <a:pPr marL="457200" lvl="1" indent="0">
              <a:buNone/>
            </a:pPr>
            <a:r>
              <a:rPr lang="en-IN" dirty="0"/>
              <a:t>Price must be positive </a:t>
            </a:r>
          </a:p>
          <a:p>
            <a:pPr marL="457200" lvl="1" indent="0">
              <a:buNone/>
            </a:pPr>
            <a:r>
              <a:rPr lang="en-IN" dirty="0"/>
              <a:t>Quantity must be positive </a:t>
            </a:r>
          </a:p>
          <a:p>
            <a:pPr marL="0" indent="0">
              <a:buNone/>
            </a:pPr>
            <a:r>
              <a:rPr lang="en-IN" b="1" dirty="0"/>
              <a:t>Common Annotations</a:t>
            </a:r>
          </a:p>
          <a:p>
            <a:pPr marL="457200" lvl="1" indent="0">
              <a:buNone/>
            </a:pPr>
            <a:r>
              <a:rPr lang="en-IN" dirty="0"/>
              <a:t>@NotBlank </a:t>
            </a:r>
          </a:p>
          <a:p>
            <a:pPr marL="457200" lvl="1" indent="0">
              <a:buNone/>
            </a:pPr>
            <a:r>
              <a:rPr lang="en-IN" dirty="0"/>
              <a:t>@Positive </a:t>
            </a:r>
          </a:p>
          <a:p>
            <a:pPr marL="457200" lvl="1" indent="0">
              <a:buNone/>
            </a:pPr>
            <a:r>
              <a:rPr lang="en-IN" dirty="0"/>
              <a:t>@Valid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6697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C78A-A434-9DF6-449E-78D40907E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Global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6172A-0269-282F-BF80-DC8A6A3F2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Why?</a:t>
            </a:r>
          </a:p>
          <a:p>
            <a:pPr marL="0" indent="0">
              <a:buNone/>
            </a:pPr>
            <a:r>
              <a:rPr lang="en-IN" dirty="0"/>
              <a:t>Without exception handling:</a:t>
            </a:r>
          </a:p>
          <a:p>
            <a:pPr lvl="1"/>
            <a:r>
              <a:rPr lang="en-IN" dirty="0"/>
              <a:t>Stack traces </a:t>
            </a:r>
          </a:p>
          <a:p>
            <a:pPr lvl="1"/>
            <a:r>
              <a:rPr lang="en-IN" dirty="0"/>
              <a:t>Technical error messages </a:t>
            </a:r>
          </a:p>
          <a:p>
            <a:pPr lvl="1"/>
            <a:r>
              <a:rPr lang="en-IN" dirty="0"/>
              <a:t>Poor user experience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Solution</a:t>
            </a:r>
          </a:p>
          <a:p>
            <a:pPr marL="0" indent="0">
              <a:buNone/>
            </a:pPr>
            <a:r>
              <a:rPr lang="en-IN" dirty="0"/>
              <a:t>Use:</a:t>
            </a:r>
          </a:p>
          <a:p>
            <a:pPr marL="457200" lvl="1" indent="0">
              <a:buNone/>
            </a:pPr>
            <a:r>
              <a:rPr lang="en-IN" dirty="0"/>
              <a:t>@RestControllerAdvice</a:t>
            </a:r>
          </a:p>
          <a:p>
            <a:pPr marL="457200" lvl="1" indent="0">
              <a:buNone/>
            </a:pPr>
            <a:r>
              <a:rPr lang="en-IN" dirty="0"/>
              <a:t>with</a:t>
            </a:r>
          </a:p>
          <a:p>
            <a:pPr marL="457200" lvl="1" indent="0">
              <a:buNone/>
            </a:pPr>
            <a:r>
              <a:rPr lang="en-IN" dirty="0"/>
              <a:t>@ExceptionHandler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FE085-AF28-B125-FD01-A65C2B8B52D3}"/>
              </a:ext>
            </a:extLst>
          </p:cNvPr>
          <p:cNvSpPr txBox="1"/>
          <p:nvPr/>
        </p:nvSpPr>
        <p:spPr>
          <a:xfrm>
            <a:off x="6772507" y="2267415"/>
            <a:ext cx="4073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Benefits</a:t>
            </a:r>
          </a:p>
          <a:p>
            <a:r>
              <a:rPr lang="en-IN" dirty="0"/>
              <a:t>Centralized error handling </a:t>
            </a:r>
          </a:p>
          <a:p>
            <a:r>
              <a:rPr lang="en-IN" dirty="0"/>
              <a:t>Cleaner controllers </a:t>
            </a:r>
          </a:p>
          <a:p>
            <a:r>
              <a:rPr lang="en-IN" dirty="0"/>
              <a:t>Consistent API responses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3096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6AE0-49CB-BDA0-2238-5DB6D3DB8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Global Exception Handling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3AFBD-484B-E01C-B0AD-5499B3D37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66463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@RestControllerAdvice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</a:t>
            </a:r>
            <a:r>
              <a:rPr lang="en-IN" dirty="0" err="1"/>
              <a:t>GlobalExceptionHandler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@ExceptionHandler(MethodArgumentNotValidException.</a:t>
            </a:r>
            <a:r>
              <a:rPr lang="en-IN" b="1" dirty="0"/>
              <a:t>class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dirty="0" err="1"/>
              <a:t>ApiError</a:t>
            </a:r>
            <a:r>
              <a:rPr lang="en-IN" dirty="0"/>
              <a:t> </a:t>
            </a:r>
            <a:r>
              <a:rPr lang="en-IN" dirty="0" err="1"/>
              <a:t>handleValidationException</a:t>
            </a:r>
            <a:r>
              <a:rPr lang="en-IN" dirty="0"/>
              <a:t>(</a:t>
            </a:r>
            <a:r>
              <a:rPr lang="en-IN" dirty="0" err="1"/>
              <a:t>MethodArgumentNotValidException</a:t>
            </a:r>
            <a:r>
              <a:rPr lang="en-IN" dirty="0"/>
              <a:t> ex, </a:t>
            </a:r>
            <a:r>
              <a:rPr lang="en-IN" dirty="0" err="1"/>
              <a:t>HttpServletRequest</a:t>
            </a:r>
            <a:r>
              <a:rPr lang="en-IN" dirty="0"/>
              <a:t> request) {</a:t>
            </a:r>
          </a:p>
          <a:p>
            <a:pPr marL="0" indent="0">
              <a:buNone/>
            </a:pPr>
            <a:r>
              <a:rPr lang="en-IN" dirty="0"/>
              <a:t>String message = </a:t>
            </a:r>
            <a:r>
              <a:rPr lang="en-IN" dirty="0" err="1"/>
              <a:t>ex.getBindingResult</a:t>
            </a:r>
            <a:r>
              <a:rPr lang="en-IN" dirty="0"/>
              <a:t>().</a:t>
            </a:r>
            <a:r>
              <a:rPr lang="en-IN" dirty="0" err="1"/>
              <a:t>getFieldErrors</a:t>
            </a:r>
            <a:r>
              <a:rPr lang="en-IN" dirty="0"/>
              <a:t>().stream().map(</a:t>
            </a:r>
            <a:r>
              <a:rPr lang="en-IN" dirty="0" err="1"/>
              <a:t>FieldError</a:t>
            </a:r>
            <a:r>
              <a:rPr lang="en-IN" dirty="0"/>
              <a:t>::</a:t>
            </a:r>
            <a:r>
              <a:rPr lang="en-IN" dirty="0" err="1"/>
              <a:t>getDefaultMessage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.collect(</a:t>
            </a:r>
            <a:r>
              <a:rPr lang="en-IN" dirty="0" err="1"/>
              <a:t>Collectors.</a:t>
            </a:r>
            <a:r>
              <a:rPr lang="en-IN" i="1" dirty="0" err="1"/>
              <a:t>joining</a:t>
            </a:r>
            <a:r>
              <a:rPr lang="en-IN" dirty="0"/>
              <a:t>(", "));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ApiError</a:t>
            </a:r>
            <a:r>
              <a:rPr lang="en-IN" dirty="0"/>
              <a:t>(</a:t>
            </a:r>
            <a:r>
              <a:rPr lang="en-IN" dirty="0" err="1"/>
              <a:t>LocalDateTime.</a:t>
            </a:r>
            <a:r>
              <a:rPr lang="en-IN" i="1" dirty="0" err="1"/>
              <a:t>now</a:t>
            </a:r>
            <a:r>
              <a:rPr lang="en-IN" dirty="0"/>
              <a:t>(), </a:t>
            </a:r>
            <a:r>
              <a:rPr lang="en-IN" dirty="0" err="1"/>
              <a:t>HttpStatus.</a:t>
            </a:r>
            <a:r>
              <a:rPr lang="en-IN" b="1" i="1" dirty="0" err="1"/>
              <a:t>BAD_REQUEST</a:t>
            </a:r>
            <a:r>
              <a:rPr lang="en-IN" dirty="0" err="1"/>
              <a:t>.value</a:t>
            </a:r>
            <a:r>
              <a:rPr lang="en-IN" dirty="0"/>
              <a:t>(),</a:t>
            </a:r>
          </a:p>
          <a:p>
            <a:pPr marL="0" indent="0">
              <a:buNone/>
            </a:pPr>
            <a:r>
              <a:rPr lang="en-IN" dirty="0" err="1"/>
              <a:t>HttpStatus.</a:t>
            </a:r>
            <a:r>
              <a:rPr lang="en-IN" b="1" i="1" dirty="0" err="1"/>
              <a:t>BAD_REQUEST</a:t>
            </a:r>
            <a:r>
              <a:rPr lang="en-IN" dirty="0" err="1"/>
              <a:t>.getReasonPhrase</a:t>
            </a:r>
            <a:r>
              <a:rPr lang="en-IN" dirty="0"/>
              <a:t>(), message, </a:t>
            </a:r>
            <a:r>
              <a:rPr lang="en-IN" dirty="0" err="1"/>
              <a:t>request.getRequestURI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89B6B7-D130-DF52-CFC7-B62569EF2CBD}"/>
              </a:ext>
            </a:extLst>
          </p:cNvPr>
          <p:cNvSpPr txBox="1"/>
          <p:nvPr/>
        </p:nvSpPr>
        <p:spPr>
          <a:xfrm>
            <a:off x="8973015" y="2676293"/>
            <a:ext cx="28101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//Entity</a:t>
            </a:r>
          </a:p>
          <a:p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</a:t>
            </a:r>
            <a:r>
              <a:rPr lang="en-IN" dirty="0" err="1"/>
              <a:t>ApiError</a:t>
            </a:r>
            <a:r>
              <a:rPr lang="en-IN" dirty="0"/>
              <a:t> {</a:t>
            </a:r>
          </a:p>
          <a:p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dirty="0" err="1"/>
              <a:t>LocalDateTime</a:t>
            </a:r>
            <a:r>
              <a:rPr lang="en-IN" dirty="0"/>
              <a:t> timestamp;</a:t>
            </a:r>
          </a:p>
          <a:p>
            <a:r>
              <a:rPr lang="en-IN" b="1" dirty="0"/>
              <a:t>private</a:t>
            </a:r>
            <a:r>
              <a:rPr lang="en-IN" dirty="0"/>
              <a:t> </a:t>
            </a:r>
            <a:r>
              <a:rPr lang="en-IN" b="1" dirty="0"/>
              <a:t>int</a:t>
            </a:r>
            <a:r>
              <a:rPr lang="en-IN" dirty="0"/>
              <a:t> status;</a:t>
            </a:r>
          </a:p>
          <a:p>
            <a:r>
              <a:rPr lang="en-IN" b="1" dirty="0"/>
              <a:t>private</a:t>
            </a:r>
            <a:r>
              <a:rPr lang="en-IN" dirty="0"/>
              <a:t> String error;</a:t>
            </a:r>
          </a:p>
          <a:p>
            <a:r>
              <a:rPr lang="en-IN" b="1" dirty="0"/>
              <a:t>private</a:t>
            </a:r>
            <a:r>
              <a:rPr lang="en-IN" dirty="0"/>
              <a:t> String message;</a:t>
            </a:r>
          </a:p>
          <a:p>
            <a:r>
              <a:rPr lang="en-IN" b="1" dirty="0"/>
              <a:t>private</a:t>
            </a:r>
            <a:r>
              <a:rPr lang="en-IN" dirty="0"/>
              <a:t> String path;</a:t>
            </a:r>
          </a:p>
          <a:p>
            <a:r>
              <a:rPr lang="en-IN" dirty="0"/>
              <a:t>}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064A25-65A9-FD93-7E4B-88BAAB5FB4CB}"/>
              </a:ext>
            </a:extLst>
          </p:cNvPr>
          <p:cNvCxnSpPr/>
          <p:nvPr/>
        </p:nvCxnSpPr>
        <p:spPr>
          <a:xfrm>
            <a:off x="8445190" y="1932878"/>
            <a:ext cx="0" cy="3858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9437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9D05-F848-3C76-C097-D02AEB7B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Complete Application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BB089-0F0E-CA6D-9928-6CB048DCA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528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Client </a:t>
            </a:r>
          </a:p>
          <a:p>
            <a:pPr marL="0" indent="0">
              <a:buNone/>
            </a:pPr>
            <a:r>
              <a:rPr lang="en-IN" dirty="0"/>
              <a:t>   │ </a:t>
            </a:r>
          </a:p>
          <a:p>
            <a:pPr marL="0" indent="0">
              <a:buNone/>
            </a:pPr>
            <a:r>
              <a:rPr lang="en-IN" dirty="0"/>
              <a:t>  ▼ </a:t>
            </a:r>
          </a:p>
          <a:p>
            <a:pPr marL="0" indent="0">
              <a:buNone/>
            </a:pPr>
            <a:r>
              <a:rPr lang="en-IN" dirty="0"/>
              <a:t>REST Controller </a:t>
            </a:r>
          </a:p>
          <a:p>
            <a:pPr marL="0" indent="0">
              <a:buNone/>
            </a:pPr>
            <a:r>
              <a:rPr lang="en-IN" dirty="0"/>
              <a:t>   │ </a:t>
            </a:r>
          </a:p>
          <a:p>
            <a:pPr marL="0" indent="0">
              <a:buNone/>
            </a:pPr>
            <a:r>
              <a:rPr lang="en-IN" dirty="0"/>
              <a:t>  ▼ </a:t>
            </a:r>
          </a:p>
          <a:p>
            <a:pPr marL="0" indent="0">
              <a:buNone/>
            </a:pPr>
            <a:r>
              <a:rPr lang="en-IN" dirty="0"/>
              <a:t>Service Layer </a:t>
            </a:r>
          </a:p>
          <a:p>
            <a:pPr marL="0" indent="0">
              <a:buNone/>
            </a:pPr>
            <a:r>
              <a:rPr lang="en-IN" dirty="0"/>
              <a:t>    │ </a:t>
            </a:r>
          </a:p>
          <a:p>
            <a:pPr marL="0" indent="0">
              <a:buNone/>
            </a:pPr>
            <a:r>
              <a:rPr lang="en-IN" dirty="0"/>
              <a:t>   ▼ </a:t>
            </a:r>
          </a:p>
          <a:p>
            <a:pPr marL="0" indent="0">
              <a:buNone/>
            </a:pPr>
            <a:r>
              <a:rPr lang="en-IN" dirty="0"/>
              <a:t>Repository </a:t>
            </a:r>
          </a:p>
          <a:p>
            <a:pPr marL="0" indent="0">
              <a:buNone/>
            </a:pPr>
            <a:r>
              <a:rPr lang="en-IN" dirty="0"/>
              <a:t>     │ </a:t>
            </a:r>
          </a:p>
          <a:p>
            <a:pPr marL="0" indent="0">
              <a:buNone/>
            </a:pPr>
            <a:r>
              <a:rPr lang="en-IN" dirty="0"/>
              <a:t>    ▼ </a:t>
            </a:r>
          </a:p>
          <a:p>
            <a:pPr marL="0" indent="0">
              <a:buNone/>
            </a:pPr>
            <a:r>
              <a:rPr lang="en-IN" dirty="0"/>
              <a:t>MySQL Database</a:t>
            </a:r>
          </a:p>
        </p:txBody>
      </p:sp>
    </p:spTree>
    <p:extLst>
      <p:ext uri="{BB962C8B-B14F-4D97-AF65-F5344CB8AC3E}">
        <p14:creationId xmlns:p14="http://schemas.microsoft.com/office/powerpoint/2010/main" val="18020136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0A11-12CE-F127-9696-8A2354B8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D835B-F78E-F295-45F5-AD48B73BB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product-service </a:t>
            </a:r>
          </a:p>
          <a:p>
            <a:pPr marL="0" indent="0">
              <a:buNone/>
            </a:pPr>
            <a:r>
              <a:rPr lang="en-IN" dirty="0"/>
              <a:t> │ </a:t>
            </a:r>
          </a:p>
          <a:p>
            <a:pPr marL="0" indent="0">
              <a:buNone/>
            </a:pPr>
            <a:r>
              <a:rPr lang="en-IN" dirty="0"/>
              <a:t>├── controller</a:t>
            </a:r>
          </a:p>
          <a:p>
            <a:pPr marL="0" indent="0">
              <a:buNone/>
            </a:pPr>
            <a:r>
              <a:rPr lang="en-IN" dirty="0"/>
              <a:t>├── service </a:t>
            </a:r>
          </a:p>
          <a:p>
            <a:pPr marL="0" indent="0">
              <a:buNone/>
            </a:pPr>
            <a:r>
              <a:rPr lang="en-IN" dirty="0"/>
              <a:t>├── repository </a:t>
            </a:r>
          </a:p>
          <a:p>
            <a:pPr marL="0" indent="0">
              <a:buNone/>
            </a:pPr>
            <a:r>
              <a:rPr lang="en-IN" dirty="0"/>
              <a:t>├── entity </a:t>
            </a:r>
          </a:p>
          <a:p>
            <a:pPr marL="0" indent="0">
              <a:buNone/>
            </a:pPr>
            <a:r>
              <a:rPr lang="en-IN" dirty="0"/>
              <a:t>├── exception </a:t>
            </a:r>
          </a:p>
          <a:p>
            <a:pPr marL="0" indent="0">
              <a:buNone/>
            </a:pPr>
            <a:r>
              <a:rPr lang="en-IN" dirty="0"/>
              <a:t> └── </a:t>
            </a:r>
            <a:r>
              <a:rPr lang="en-IN" dirty="0" err="1"/>
              <a:t>ProductApplication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8834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2754</Words>
  <Application>Microsoft Office PowerPoint</Application>
  <PresentationFormat>Widescreen</PresentationFormat>
  <Paragraphs>755</Paragraphs>
  <Slides>51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Aptos</vt:lpstr>
      <vt:lpstr>Aptos Display</vt:lpstr>
      <vt:lpstr>Arial</vt:lpstr>
      <vt:lpstr>Office Theme</vt:lpstr>
      <vt:lpstr>Microservices with Spring Boot 4.0.1</vt:lpstr>
      <vt:lpstr>What is an Enterprise Application?</vt:lpstr>
      <vt:lpstr>Why Architecture Matters</vt:lpstr>
      <vt:lpstr>Evolution of Software Architecture</vt:lpstr>
      <vt:lpstr>E-Commerce Order Management System</vt:lpstr>
      <vt:lpstr>Problem Statement</vt:lpstr>
      <vt:lpstr>Monolithic Architecture</vt:lpstr>
      <vt:lpstr>Project Structure in Monolithic Application</vt:lpstr>
      <vt:lpstr>Advantages of Monolithic Architecture</vt:lpstr>
      <vt:lpstr>Limitations of Monolithic Architecture</vt:lpstr>
      <vt:lpstr>Why Organizations Moved to Microservices</vt:lpstr>
      <vt:lpstr>Introducing Microservices</vt:lpstr>
      <vt:lpstr>What are Microservices?</vt:lpstr>
      <vt:lpstr>E-Commerce Microservices Example</vt:lpstr>
      <vt:lpstr>Characteristics of Microservices</vt:lpstr>
      <vt:lpstr>Single Responsibility Principle</vt:lpstr>
      <vt:lpstr>Independent Deployment</vt:lpstr>
      <vt:lpstr>Benefits</vt:lpstr>
      <vt:lpstr>Database per Service</vt:lpstr>
      <vt:lpstr>API-Based Communication</vt:lpstr>
      <vt:lpstr>Independent Scaling</vt:lpstr>
      <vt:lpstr>Fault Isolation</vt:lpstr>
      <vt:lpstr>Monolithic vs Microservices</vt:lpstr>
      <vt:lpstr>Why Spring Boot?</vt:lpstr>
      <vt:lpstr>What is Spring Boot?</vt:lpstr>
      <vt:lpstr>Why Spring Boot for Microservices?</vt:lpstr>
      <vt:lpstr>Spring Boot Features</vt:lpstr>
      <vt:lpstr>Spring Boot Features</vt:lpstr>
      <vt:lpstr>What is an API?</vt:lpstr>
      <vt:lpstr>API (Application Programming Interface)</vt:lpstr>
      <vt:lpstr>What is REST?</vt:lpstr>
      <vt:lpstr>REST Architecture</vt:lpstr>
      <vt:lpstr>Characteristics</vt:lpstr>
      <vt:lpstr>HTTP Methods</vt:lpstr>
      <vt:lpstr>REST Guidelines</vt:lpstr>
      <vt:lpstr>HTTP Status Codes</vt:lpstr>
      <vt:lpstr>HTTP Status Codes</vt:lpstr>
      <vt:lpstr>HTTP Status Code</vt:lpstr>
      <vt:lpstr>REST API Design Best Practices</vt:lpstr>
      <vt:lpstr>Building the Product Service</vt:lpstr>
      <vt:lpstr>Creating a Spring Boot Project</vt:lpstr>
      <vt:lpstr>Configure MySQL</vt:lpstr>
      <vt:lpstr>Create the Product Entity</vt:lpstr>
      <vt:lpstr>Repository Layers</vt:lpstr>
      <vt:lpstr>Service Layer</vt:lpstr>
      <vt:lpstr>Build the REST Controller</vt:lpstr>
      <vt:lpstr>Input Validation</vt:lpstr>
      <vt:lpstr>Global Exception Handling</vt:lpstr>
      <vt:lpstr>Global Exception Handling Example</vt:lpstr>
      <vt:lpstr>Complete Application Flow</vt:lpstr>
      <vt:lpstr>Final Project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Sujata Batra</dc:creator>
  <cp:lastModifiedBy>Sujata Batra</cp:lastModifiedBy>
  <cp:revision>69</cp:revision>
  <dcterms:created xsi:type="dcterms:W3CDTF">2026-07-25T10:12:28Z</dcterms:created>
  <dcterms:modified xsi:type="dcterms:W3CDTF">2026-07-26T14:39:01Z</dcterms:modified>
</cp:coreProperties>
</file>